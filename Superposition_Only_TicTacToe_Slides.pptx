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class, open Superposition_Only_TicTacToe_Offline.html in a browser. The game runs without internet. Click Full screen to project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game, a die stands in for the random result of a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and IBM build qubits from superconducting circuits. IonQ and Quantinuum use trapped ions. A common myth says a quantum computer tries every answer at once. It does not. It uses superposition and interference to make right answers more likely.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Einstein doubted entanglement and called it “spooky action at a distance.” Goff named the game’s spooky marks after that phrase. The 2022 Nobel Prize in Physics honored experiments with entangled photons. It went to Alain Aspect, John Clauser, and Anton Zeilinger. In the game, two pairs that share a square act a little like an entangled pair.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choose Classical or Superposition above the playing pad. Then click a square or press a key from 1 to 9. Each pair gets its own color and move number.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click one of your spooky marks, then click Roll die. The game makes any forced moves and lists them after the roll. If a player has no pairs left, the other player keeps measuring. Squares that empty out open again for the next round.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Spooky marks are not real until they are measured. That is why a row of spooky marks does not win. Measurement decides which marks become real.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463040"/>
            <a:ext cx="5852160" cy="2194560"/>
          </a:xfrm>
          <a:prstGeom prst="rect">
            <a:avLst/>
          </a:prstGeom>
          <a:noFill/>
        </p:spPr>
        <p:txBody>
          <a:bodyPr wrap="square" lIns="0" rIns="0" tIns="0" bIns="0" anchor="b">
            <a:noAutofit/>
          </a:bodyPr>
          <a:lstStyle/>
          <a:p>
            <a:pPr algn="l">
              <a:spcAft>
                <a:spcPts val="0"/>
              </a:spcAft>
            </a:pPr>
            <a:r>
              <a:rPr sz="6000" b="1">
                <a:solidFill>
                  <a:srgbClr val="202435"/>
                </a:solidFill>
                <a:latin typeface="Arial"/>
              </a:rPr>
              <a:t>Superposition</a:t>
            </a:r>
          </a:p>
          <a:p>
            <a:pPr algn="l">
              <a:spcAft>
                <a:spcPts val="0"/>
              </a:spcAft>
            </a:pPr>
            <a:r>
              <a:rPr sz="6000" b="1">
                <a:solidFill>
                  <a:srgbClr val="202435"/>
                </a:solidFill>
                <a:latin typeface="Arial"/>
              </a:rPr>
              <a:t>Tic-Tac-Toe</a:t>
            </a:r>
          </a:p>
        </p:txBody>
      </p:sp>
      <p:sp>
        <p:nvSpPr>
          <p:cNvPr id="3" name="Rectangle 2"/>
          <p:cNvSpPr/>
          <p:nvPr/>
        </p:nvSpPr>
        <p:spPr>
          <a:xfrm>
            <a:off x="731520" y="3886200"/>
            <a:ext cx="1463040" cy="82296"/>
          </a:xfrm>
          <a:prstGeom prst="rect">
            <a:avLst/>
          </a:prstGeom>
          <a:solidFill>
            <a:srgbClr val="B41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60520"/>
            <a:ext cx="5760720" cy="548640"/>
          </a:xfrm>
          <a:prstGeom prst="rect">
            <a:avLst/>
          </a:prstGeom>
          <a:noFill/>
        </p:spPr>
        <p:txBody>
          <a:bodyPr wrap="square" lIns="0" rIns="0" tIns="0" bIns="0" anchor="t">
            <a:noAutofit/>
          </a:bodyPr>
          <a:lstStyle/>
          <a:p>
            <a:pPr algn="l">
              <a:spcAft>
                <a:spcPts val="0"/>
              </a:spcAft>
            </a:pPr>
            <a:r>
              <a:rPr sz="2600" b="0">
                <a:solidFill>
                  <a:srgbClr val="535969"/>
                </a:solidFill>
                <a:latin typeface="Arial"/>
              </a:rPr>
              <a:t>A quantum game for two players</a:t>
            </a:r>
          </a:p>
        </p:txBody>
      </p:sp>
      <p:sp>
        <p:nvSpPr>
          <p:cNvPr id="5" name="TextBox 4"/>
          <p:cNvSpPr txBox="1"/>
          <p:nvPr/>
        </p:nvSpPr>
        <p:spPr>
          <a:xfrm>
            <a:off x="731520" y="5897880"/>
            <a:ext cx="5760720" cy="365760"/>
          </a:xfrm>
          <a:prstGeom prst="rect">
            <a:avLst/>
          </a:prstGeom>
          <a:noFill/>
        </p:spPr>
        <p:txBody>
          <a:bodyPr wrap="square" lIns="0" rIns="0" tIns="0" bIns="0" anchor="t">
            <a:noAutofit/>
          </a:bodyPr>
          <a:lstStyle/>
          <a:p>
            <a:pPr algn="l">
              <a:spcAft>
                <a:spcPts val="0"/>
              </a:spcAft>
            </a:pPr>
            <a:r>
              <a:rPr sz="1200" b="0">
                <a:solidFill>
                  <a:srgbClr val="535969"/>
                </a:solidFill>
                <a:latin typeface="Arial"/>
              </a:rPr>
              <a:t>Adapted from Allan Goff, American Journal of Physics 74 (2006)</a:t>
            </a:r>
          </a:p>
        </p:txBody>
      </p:sp>
      <p:pic>
        <p:nvPicPr>
          <p:cNvPr id="6" name="Ghost Grid image" descr="Ghost Grid: Quantum Tic-Tac-Toe. A smiling ghost floats across a red tic-tac-toe board with solid and dashed X and O marks."/>
          <p:cNvPicPr>
            <a:picLocks noChangeAspect="1"/>
          </p:cNvPicPr>
          <p:nvPr/>
        </p:nvPicPr>
        <p:blipFill>
          <a:blip r:embed="rId2"/>
          <a:stretch>
            <a:fillRect/>
          </a:stretch>
        </p:blipFill>
        <p:spPr>
          <a:xfrm>
            <a:off x="6583680" y="685800"/>
            <a:ext cx="5134577" cy="54864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lIns="0" rIns="0" tIns="0" bIns="0" anchor="b">
            <a:noAutofit/>
          </a:bodyPr>
          <a:lstStyle/>
          <a:p>
            <a:pPr algn="l">
              <a:spcAft>
                <a:spcPts val="0"/>
              </a:spcAft>
            </a:pPr>
            <a:r>
              <a:rPr sz="3400" b="1">
                <a:solidFill>
                  <a:srgbClr val="202435"/>
                </a:solidFill>
                <a:latin typeface="Arial"/>
              </a:rPr>
              <a:t>Superposition: two places until measured</a:t>
            </a:r>
          </a:p>
        </p:txBody>
      </p:sp>
      <p:sp>
        <p:nvSpPr>
          <p:cNvPr id="3" name="Rectangle 2"/>
          <p:cNvSpPr/>
          <p:nvPr/>
        </p:nvSpPr>
        <p:spPr>
          <a:xfrm>
            <a:off x="548640" y="1243584"/>
            <a:ext cx="1097280" cy="64008"/>
          </a:xfrm>
          <a:prstGeom prst="rect">
            <a:avLst/>
          </a:prstGeom>
          <a:solidFill>
            <a:srgbClr val="B41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382512"/>
            <a:ext cx="7315200" cy="292608"/>
          </a:xfrm>
          <a:prstGeom prst="rect">
            <a:avLst/>
          </a:prstGeom>
          <a:noFill/>
        </p:spPr>
        <p:txBody>
          <a:bodyPr wrap="square" lIns="0" rIns="0" tIns="0" bIns="0" anchor="t">
            <a:noAutofit/>
          </a:bodyPr>
          <a:lstStyle/>
          <a:p>
            <a:pPr algn="l">
              <a:spcAft>
                <a:spcPts val="0"/>
              </a:spcAft>
            </a:pPr>
            <a:r>
              <a:rPr sz="1200" b="0">
                <a:solidFill>
                  <a:srgbClr val="535969"/>
                </a:solidFill>
                <a:latin typeface="Arial"/>
              </a:rPr>
              <a:t>GHOST GRID  ·  Superposition Tic-Tac-Toe</a:t>
            </a:r>
          </a:p>
        </p:txBody>
      </p:sp>
      <p:sp>
        <p:nvSpPr>
          <p:cNvPr id="5" name="TextBox 4"/>
          <p:cNvSpPr txBox="1"/>
          <p:nvPr/>
        </p:nvSpPr>
        <p:spPr>
          <a:xfrm>
            <a:off x="10241280" y="6382512"/>
            <a:ext cx="1417320" cy="292608"/>
          </a:xfrm>
          <a:prstGeom prst="rect">
            <a:avLst/>
          </a:prstGeom>
          <a:noFill/>
        </p:spPr>
        <p:txBody>
          <a:bodyPr wrap="square" lIns="0" rIns="0" tIns="0" bIns="0" anchor="t">
            <a:noAutofit/>
          </a:bodyPr>
          <a:lstStyle/>
          <a:p>
            <a:pPr algn="r">
              <a:spcAft>
                <a:spcPts val="0"/>
              </a:spcAft>
            </a:pPr>
            <a:r>
              <a:rPr sz="1200" b="0">
                <a:solidFill>
                  <a:srgbClr val="535969"/>
                </a:solidFill>
                <a:latin typeface="Arial"/>
              </a:rPr>
              <a:t>2 / 7</a:t>
            </a:r>
          </a:p>
        </p:txBody>
      </p:sp>
      <p:sp>
        <p:nvSpPr>
          <p:cNvPr id="6" name="TextBox 5"/>
          <p:cNvSpPr txBox="1"/>
          <p:nvPr/>
        </p:nvSpPr>
        <p:spPr>
          <a:xfrm>
            <a:off x="548640" y="1600200"/>
            <a:ext cx="6035040" cy="4480560"/>
          </a:xfrm>
          <a:prstGeom prst="rect">
            <a:avLst/>
          </a:prstGeom>
          <a:noFill/>
        </p:spPr>
        <p:txBody>
          <a:bodyPr wrap="square" lIns="0" rIns="0" tIns="0" bIns="0" anchor="t">
            <a:noAutofit/>
          </a:bodyPr>
          <a:lstStyle/>
          <a:p>
            <a:pPr algn="l" marL="384048" indent="-384048">
              <a:spcAft>
                <a:spcPts val="2200"/>
              </a:spcAft>
              <a:buClr>
                <a:srgbClr val="B41524"/>
              </a:buClr>
              <a:buFont typeface="Arial"/>
              <a:buChar char="•"/>
            </a:pPr>
            <a:r>
              <a:rPr sz="2400" b="0">
                <a:solidFill>
                  <a:srgbClr val="202435"/>
                </a:solidFill>
                <a:latin typeface="Arial"/>
              </a:rPr>
              <a:t>Tiny quantum objects, like electrons, follow their own rules.</a:t>
            </a:r>
          </a:p>
          <a:p>
            <a:pPr algn="l" marL="384048" indent="-384048">
              <a:spcAft>
                <a:spcPts val="2200"/>
              </a:spcAft>
              <a:buClr>
                <a:srgbClr val="B41524"/>
              </a:buClr>
              <a:buFont typeface="Arial"/>
              <a:buChar char="•"/>
            </a:pPr>
            <a:r>
              <a:rPr sz="2400" b="0">
                <a:solidFill>
                  <a:srgbClr val="202435"/>
                </a:solidFill>
                <a:latin typeface="Arial"/>
              </a:rPr>
              <a:t>Before a measurement, an electron can seem to be in two places at once.</a:t>
            </a:r>
          </a:p>
          <a:p>
            <a:pPr algn="l" marL="384048" indent="-384048">
              <a:spcAft>
                <a:spcPts val="2200"/>
              </a:spcAft>
              <a:buClr>
                <a:srgbClr val="B41524"/>
              </a:buClr>
              <a:buFont typeface="Arial"/>
              <a:buChar char="•"/>
            </a:pPr>
            <a:r>
              <a:rPr sz="2400" b="0">
                <a:solidFill>
                  <a:srgbClr val="202435"/>
                </a:solidFill>
                <a:latin typeface="Arial"/>
              </a:rPr>
              <a:t>Measuring finds it in one place.</a:t>
            </a:r>
          </a:p>
          <a:p>
            <a:pPr algn="l" marL="384048" indent="-384048">
              <a:spcAft>
                <a:spcPts val="2200"/>
              </a:spcAft>
              <a:buClr>
                <a:srgbClr val="B41524"/>
              </a:buClr>
              <a:buFont typeface="Arial"/>
              <a:buChar char="•"/>
            </a:pPr>
            <a:r>
              <a:rPr sz="2400" b="0">
                <a:solidFill>
                  <a:srgbClr val="202435"/>
                </a:solidFill>
                <a:latin typeface="Arial"/>
              </a:rPr>
              <a:t>No one can predict which place.</a:t>
            </a:r>
          </a:p>
        </p:txBody>
      </p:sp>
      <p:sp>
        <p:nvSpPr>
          <p:cNvPr id="7" name="TextBox 6"/>
          <p:cNvSpPr txBox="1"/>
          <p:nvPr/>
        </p:nvSpPr>
        <p:spPr>
          <a:xfrm>
            <a:off x="6766560" y="1463040"/>
            <a:ext cx="4937760" cy="384048"/>
          </a:xfrm>
          <a:prstGeom prst="rect">
            <a:avLst/>
          </a:prstGeom>
          <a:noFill/>
        </p:spPr>
        <p:txBody>
          <a:bodyPr wrap="square" lIns="0" rIns="0" tIns="0" bIns="0" anchor="t">
            <a:noAutofit/>
          </a:bodyPr>
          <a:lstStyle/>
          <a:p>
            <a:pPr algn="ctr">
              <a:spcAft>
                <a:spcPts val="0"/>
              </a:spcAft>
            </a:pPr>
            <a:r>
              <a:rPr sz="1800" b="1">
                <a:solidFill>
                  <a:srgbClr val="535969"/>
                </a:solidFill>
                <a:latin typeface="Arial"/>
              </a:rPr>
              <a:t>Before measuring</a:t>
            </a:r>
          </a:p>
        </p:txBody>
      </p:sp>
      <p:sp>
        <p:nvSpPr>
          <p:cNvPr id="8" name="Rectangle 7"/>
          <p:cNvSpPr/>
          <p:nvPr/>
        </p:nvSpPr>
        <p:spPr>
          <a:xfrm>
            <a:off x="7589520" y="1920240"/>
            <a:ext cx="1371600" cy="137160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822692" y="2194560"/>
            <a:ext cx="905256" cy="960119"/>
          </a:xfrm>
          <a:prstGeom prst="roundRect">
            <a:avLst>
              <a:gd name="adj" fmla="val 16000"/>
            </a:avLst>
          </a:prstGeom>
          <a:noFill/>
          <a:ln w="31750">
            <a:solidFill>
              <a:srgbClr val="975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4500" b="1">
                <a:solidFill>
                  <a:srgbClr val="975000"/>
                </a:solidFill>
                <a:latin typeface="Arial"/>
              </a:rPr>
              <a:t>X</a:t>
            </a:r>
          </a:p>
          <a:p>
            <a:pPr algn="ctr"/>
            <a:r>
              <a:rPr sz="1500" b="1">
                <a:solidFill>
                  <a:srgbClr val="975000"/>
                </a:solidFill>
                <a:latin typeface="Arial"/>
              </a:rPr>
              <a:t>1 · A</a:t>
            </a:r>
          </a:p>
        </p:txBody>
      </p:sp>
      <p:sp>
        <p:nvSpPr>
          <p:cNvPr id="10" name="Rectangle 9"/>
          <p:cNvSpPr/>
          <p:nvPr/>
        </p:nvSpPr>
        <p:spPr>
          <a:xfrm>
            <a:off x="9509760" y="1920240"/>
            <a:ext cx="1371600" cy="137160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742932" y="2194560"/>
            <a:ext cx="905256" cy="960119"/>
          </a:xfrm>
          <a:prstGeom prst="roundRect">
            <a:avLst>
              <a:gd name="adj" fmla="val 16000"/>
            </a:avLst>
          </a:prstGeom>
          <a:noFill/>
          <a:ln w="31750">
            <a:solidFill>
              <a:srgbClr val="975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4500" b="1">
                <a:solidFill>
                  <a:srgbClr val="975000"/>
                </a:solidFill>
                <a:latin typeface="Arial"/>
              </a:rPr>
              <a:t>X</a:t>
            </a:r>
          </a:p>
          <a:p>
            <a:pPr algn="ctr"/>
            <a:r>
              <a:rPr sz="1500" b="1">
                <a:solidFill>
                  <a:srgbClr val="975000"/>
                </a:solidFill>
                <a:latin typeface="Arial"/>
              </a:rPr>
              <a:t>1 · B</a:t>
            </a:r>
          </a:p>
        </p:txBody>
      </p:sp>
      <p:sp>
        <p:nvSpPr>
          <p:cNvPr id="12" name="Down Arrow 11"/>
          <p:cNvSpPr/>
          <p:nvPr/>
        </p:nvSpPr>
        <p:spPr>
          <a:xfrm>
            <a:off x="8961120" y="3401568"/>
            <a:ext cx="548640" cy="658368"/>
          </a:xfrm>
          <a:prstGeom prst="downArrow">
            <a:avLst/>
          </a:prstGeom>
          <a:solidFill>
            <a:srgbClr val="C9C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46920" y="3511296"/>
            <a:ext cx="2011680" cy="457200"/>
          </a:xfrm>
          <a:prstGeom prst="rect">
            <a:avLst/>
          </a:prstGeom>
          <a:noFill/>
        </p:spPr>
        <p:txBody>
          <a:bodyPr wrap="square" lIns="0" rIns="0" tIns="0" bIns="0" anchor="t">
            <a:noAutofit/>
          </a:bodyPr>
          <a:lstStyle/>
          <a:p>
            <a:pPr algn="l">
              <a:spcAft>
                <a:spcPts val="0"/>
              </a:spcAft>
            </a:pPr>
            <a:r>
              <a:rPr sz="1800" b="1">
                <a:solidFill>
                  <a:srgbClr val="B41524"/>
                </a:solidFill>
                <a:latin typeface="Arial"/>
              </a:rPr>
              <a:t>Measure: roll a die</a:t>
            </a:r>
          </a:p>
        </p:txBody>
      </p:sp>
      <p:sp>
        <p:nvSpPr>
          <p:cNvPr id="14" name="TextBox 13"/>
          <p:cNvSpPr txBox="1"/>
          <p:nvPr/>
        </p:nvSpPr>
        <p:spPr>
          <a:xfrm>
            <a:off x="6766560" y="4133087"/>
            <a:ext cx="4937760" cy="384048"/>
          </a:xfrm>
          <a:prstGeom prst="rect">
            <a:avLst/>
          </a:prstGeom>
          <a:noFill/>
        </p:spPr>
        <p:txBody>
          <a:bodyPr wrap="square" lIns="0" rIns="0" tIns="0" bIns="0" anchor="t">
            <a:noAutofit/>
          </a:bodyPr>
          <a:lstStyle/>
          <a:p>
            <a:pPr algn="ctr">
              <a:spcAft>
                <a:spcPts val="0"/>
              </a:spcAft>
            </a:pPr>
            <a:r>
              <a:rPr sz="1800" b="1">
                <a:solidFill>
                  <a:srgbClr val="535969"/>
                </a:solidFill>
                <a:latin typeface="Arial"/>
              </a:rPr>
              <a:t>After measuring</a:t>
            </a:r>
          </a:p>
        </p:txBody>
      </p:sp>
      <p:sp>
        <p:nvSpPr>
          <p:cNvPr id="15" name="Rectangle 14"/>
          <p:cNvSpPr/>
          <p:nvPr/>
        </p:nvSpPr>
        <p:spPr>
          <a:xfrm>
            <a:off x="7589520" y="4590288"/>
            <a:ext cx="1371600" cy="137160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509760" y="4590288"/>
            <a:ext cx="1371600" cy="137160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09760" y="4590288"/>
            <a:ext cx="1371600" cy="1371600"/>
          </a:xfrm>
          <a:prstGeom prst="rect">
            <a:avLst/>
          </a:prstGeom>
          <a:noFill/>
        </p:spPr>
        <p:txBody>
          <a:bodyPr wrap="square" lIns="0" rIns="0" tIns="0" bIns="0" anchor="ctr">
            <a:noAutofit/>
          </a:bodyPr>
          <a:lstStyle/>
          <a:p>
            <a:pPr algn="ctr">
              <a:spcAft>
                <a:spcPts val="0"/>
              </a:spcAft>
            </a:pPr>
            <a:r>
              <a:rPr sz="7500" b="1">
                <a:solidFill>
                  <a:srgbClr val="B41524"/>
                </a:solidFill>
                <a:latin typeface="Arial"/>
              </a:rPr>
              <a:t>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lIns="0" rIns="0" tIns="0" bIns="0" anchor="b">
            <a:noAutofit/>
          </a:bodyPr>
          <a:lstStyle/>
          <a:p>
            <a:pPr algn="l">
              <a:spcAft>
                <a:spcPts val="0"/>
              </a:spcAft>
            </a:pPr>
            <a:r>
              <a:rPr sz="3400" b="1">
                <a:solidFill>
                  <a:srgbClr val="202435"/>
                </a:solidFill>
                <a:latin typeface="Arial"/>
              </a:rPr>
              <a:t>Quantum computers use qubits</a:t>
            </a:r>
          </a:p>
        </p:txBody>
      </p:sp>
      <p:sp>
        <p:nvSpPr>
          <p:cNvPr id="3" name="Rectangle 2"/>
          <p:cNvSpPr/>
          <p:nvPr/>
        </p:nvSpPr>
        <p:spPr>
          <a:xfrm>
            <a:off x="548640" y="1243584"/>
            <a:ext cx="1097280" cy="64008"/>
          </a:xfrm>
          <a:prstGeom prst="rect">
            <a:avLst/>
          </a:prstGeom>
          <a:solidFill>
            <a:srgbClr val="B41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382512"/>
            <a:ext cx="7315200" cy="292608"/>
          </a:xfrm>
          <a:prstGeom prst="rect">
            <a:avLst/>
          </a:prstGeom>
          <a:noFill/>
        </p:spPr>
        <p:txBody>
          <a:bodyPr wrap="square" lIns="0" rIns="0" tIns="0" bIns="0" anchor="t">
            <a:noAutofit/>
          </a:bodyPr>
          <a:lstStyle/>
          <a:p>
            <a:pPr algn="l">
              <a:spcAft>
                <a:spcPts val="0"/>
              </a:spcAft>
            </a:pPr>
            <a:r>
              <a:rPr sz="1200" b="0">
                <a:solidFill>
                  <a:srgbClr val="535969"/>
                </a:solidFill>
                <a:latin typeface="Arial"/>
              </a:rPr>
              <a:t>GHOST GRID  ·  Superposition Tic-Tac-Toe</a:t>
            </a:r>
          </a:p>
        </p:txBody>
      </p:sp>
      <p:sp>
        <p:nvSpPr>
          <p:cNvPr id="5" name="TextBox 4"/>
          <p:cNvSpPr txBox="1"/>
          <p:nvPr/>
        </p:nvSpPr>
        <p:spPr>
          <a:xfrm>
            <a:off x="10241280" y="6382512"/>
            <a:ext cx="1417320" cy="292608"/>
          </a:xfrm>
          <a:prstGeom prst="rect">
            <a:avLst/>
          </a:prstGeom>
          <a:noFill/>
        </p:spPr>
        <p:txBody>
          <a:bodyPr wrap="square" lIns="0" rIns="0" tIns="0" bIns="0" anchor="t">
            <a:noAutofit/>
          </a:bodyPr>
          <a:lstStyle/>
          <a:p>
            <a:pPr algn="r">
              <a:spcAft>
                <a:spcPts val="0"/>
              </a:spcAft>
            </a:pPr>
            <a:r>
              <a:rPr sz="1200" b="0">
                <a:solidFill>
                  <a:srgbClr val="535969"/>
                </a:solidFill>
                <a:latin typeface="Arial"/>
              </a:rPr>
              <a:t>3 / 7</a:t>
            </a:r>
          </a:p>
        </p:txBody>
      </p:sp>
      <p:sp>
        <p:nvSpPr>
          <p:cNvPr id="6" name="TextBox 5"/>
          <p:cNvSpPr txBox="1"/>
          <p:nvPr/>
        </p:nvSpPr>
        <p:spPr>
          <a:xfrm>
            <a:off x="548640" y="1554480"/>
            <a:ext cx="5852160" cy="4572000"/>
          </a:xfrm>
          <a:prstGeom prst="rect">
            <a:avLst/>
          </a:prstGeom>
          <a:noFill/>
        </p:spPr>
        <p:txBody>
          <a:bodyPr wrap="square" lIns="0" rIns="0" tIns="0" bIns="0" anchor="t">
            <a:noAutofit/>
          </a:bodyPr>
          <a:lstStyle/>
          <a:p>
            <a:pPr algn="l" marL="384048" indent="-384048">
              <a:spcAft>
                <a:spcPts val="1400"/>
              </a:spcAft>
              <a:buClr>
                <a:srgbClr val="B41524"/>
              </a:buClr>
              <a:buFont typeface="Arial"/>
              <a:buChar char="•"/>
            </a:pPr>
            <a:r>
              <a:rPr sz="2200" b="0">
                <a:solidFill>
                  <a:srgbClr val="202435"/>
                </a:solidFill>
                <a:latin typeface="Arial"/>
              </a:rPr>
              <a:t>A regular computer bit is either 0 or 1.</a:t>
            </a:r>
          </a:p>
          <a:p>
            <a:pPr algn="l" marL="384048" indent="-384048">
              <a:spcAft>
                <a:spcPts val="1400"/>
              </a:spcAft>
              <a:buClr>
                <a:srgbClr val="B41524"/>
              </a:buClr>
              <a:buFont typeface="Arial"/>
              <a:buChar char="•"/>
            </a:pPr>
            <a:r>
              <a:rPr sz="2200" b="0">
                <a:solidFill>
                  <a:srgbClr val="202435"/>
                </a:solidFill>
                <a:latin typeface="Arial"/>
              </a:rPr>
              <a:t>A quantum bit, or qubit, can be in a superposition of 0 and 1.</a:t>
            </a:r>
          </a:p>
          <a:p>
            <a:pPr algn="l" marL="384048" indent="-384048">
              <a:spcAft>
                <a:spcPts val="1400"/>
              </a:spcAft>
              <a:buClr>
                <a:srgbClr val="B41524"/>
              </a:buClr>
              <a:buFont typeface="Arial"/>
              <a:buChar char="•"/>
            </a:pPr>
            <a:r>
              <a:rPr sz="2200" b="0">
                <a:solidFill>
                  <a:srgbClr val="202435"/>
                </a:solidFill>
                <a:latin typeface="Arial"/>
              </a:rPr>
              <a:t>A precise laser or microwave pulse puts a qubit into superposition.</a:t>
            </a:r>
          </a:p>
          <a:p>
            <a:pPr algn="l" marL="384048" indent="-384048">
              <a:spcAft>
                <a:spcPts val="1400"/>
              </a:spcAft>
              <a:buClr>
                <a:srgbClr val="B41524"/>
              </a:buClr>
              <a:buFont typeface="Arial"/>
              <a:buChar char="•"/>
            </a:pPr>
            <a:r>
              <a:rPr sz="2200" b="0">
                <a:solidFill>
                  <a:srgbClr val="202435"/>
                </a:solidFill>
                <a:latin typeface="Arial"/>
              </a:rPr>
              <a:t>Heat and noise ruin a superposition, so qubits need shielding.</a:t>
            </a:r>
          </a:p>
          <a:p>
            <a:pPr algn="l" marL="384048" indent="-384048">
              <a:spcAft>
                <a:spcPts val="1400"/>
              </a:spcAft>
              <a:buClr>
                <a:srgbClr val="B41524"/>
              </a:buClr>
              <a:buFont typeface="Arial"/>
              <a:buChar char="•"/>
            </a:pPr>
            <a:r>
              <a:rPr sz="2200" b="0">
                <a:solidFill>
                  <a:srgbClr val="202435"/>
                </a:solidFill>
                <a:latin typeface="Arial"/>
              </a:rPr>
              <a:t>With enough qubits, some problems could be solved much faster.</a:t>
            </a:r>
          </a:p>
        </p:txBody>
      </p:sp>
      <p:sp>
        <p:nvSpPr>
          <p:cNvPr id="7" name="TextBox 6"/>
          <p:cNvSpPr txBox="1"/>
          <p:nvPr/>
        </p:nvSpPr>
        <p:spPr>
          <a:xfrm>
            <a:off x="6675120" y="1463040"/>
            <a:ext cx="4983480" cy="384048"/>
          </a:xfrm>
          <a:prstGeom prst="rect">
            <a:avLst/>
          </a:prstGeom>
          <a:noFill/>
        </p:spPr>
        <p:txBody>
          <a:bodyPr wrap="square" lIns="0" rIns="0" tIns="0" bIns="0" anchor="t">
            <a:noAutofit/>
          </a:bodyPr>
          <a:lstStyle/>
          <a:p>
            <a:pPr algn="ctr">
              <a:spcAft>
                <a:spcPts val="0"/>
              </a:spcAft>
            </a:pPr>
            <a:r>
              <a:rPr sz="1800" b="1">
                <a:solidFill>
                  <a:srgbClr val="535969"/>
                </a:solidFill>
                <a:latin typeface="Arial"/>
              </a:rPr>
              <a:t>Three ways to build a qubit</a:t>
            </a:r>
          </a:p>
        </p:txBody>
      </p:sp>
      <p:sp>
        <p:nvSpPr>
          <p:cNvPr id="8" name="Rounded Rectangle 7"/>
          <p:cNvSpPr/>
          <p:nvPr/>
        </p:nvSpPr>
        <p:spPr>
          <a:xfrm>
            <a:off x="6675120" y="1874519"/>
            <a:ext cx="4983480" cy="1325880"/>
          </a:xfrm>
          <a:prstGeom prst="roundRect">
            <a:avLst>
              <a:gd name="adj" fmla="val 5000"/>
            </a:avLst>
          </a:prstGeom>
          <a:solidFill>
            <a:srgbClr val="FFFFFF"/>
          </a:solidFill>
          <a:ln w="19050">
            <a:solidFill>
              <a:srgbClr val="D5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954926" y="2153412"/>
            <a:ext cx="729691" cy="96012"/>
          </a:xfrm>
          <a:prstGeom prst="roundRect">
            <a:avLst>
              <a:gd name="adj" fmla="val 50000"/>
            </a:avLst>
          </a:prstGeom>
          <a:solidFill>
            <a:srgbClr val="8A9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954926" y="2825496"/>
            <a:ext cx="729691" cy="96012"/>
          </a:xfrm>
          <a:prstGeom prst="roundRect">
            <a:avLst>
              <a:gd name="adj" fmla="val 50000"/>
            </a:avLst>
          </a:prstGeom>
          <a:solidFill>
            <a:srgbClr val="8A9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6839712" y="2537460"/>
            <a:ext cx="345643" cy="0"/>
          </a:xfrm>
          <a:prstGeom prst="line">
            <a:avLst/>
          </a:prstGeom>
          <a:ln w="38100">
            <a:solidFill>
              <a:srgbClr val="B41524"/>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7185355" y="2374239"/>
            <a:ext cx="326440" cy="326440"/>
          </a:xfrm>
          <a:prstGeom prst="ellipse">
            <a:avLst/>
          </a:prstGeom>
          <a:solidFill>
            <a:srgbClr val="154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FFFFFF"/>
                </a:solidFill>
                <a:latin typeface="Arial"/>
              </a:rPr>
              <a:t>+</a:t>
            </a:r>
          </a:p>
        </p:txBody>
      </p:sp>
      <p:sp>
        <p:nvSpPr>
          <p:cNvPr id="13" name="TextBox 12"/>
          <p:cNvSpPr txBox="1"/>
          <p:nvPr/>
        </p:nvSpPr>
        <p:spPr>
          <a:xfrm>
            <a:off x="8001000" y="2011679"/>
            <a:ext cx="3520440" cy="384048"/>
          </a:xfrm>
          <a:prstGeom prst="rect">
            <a:avLst/>
          </a:prstGeom>
          <a:noFill/>
        </p:spPr>
        <p:txBody>
          <a:bodyPr wrap="square" lIns="0" rIns="0" tIns="0" bIns="0" anchor="t">
            <a:noAutofit/>
          </a:bodyPr>
          <a:lstStyle/>
          <a:p>
            <a:pPr algn="l">
              <a:spcAft>
                <a:spcPts val="0"/>
              </a:spcAft>
            </a:pPr>
            <a:r>
              <a:rPr sz="2000" b="1">
                <a:solidFill>
                  <a:srgbClr val="202435"/>
                </a:solidFill>
                <a:latin typeface="Arial"/>
              </a:rPr>
              <a:t>Trapped ion</a:t>
            </a:r>
          </a:p>
        </p:txBody>
      </p:sp>
      <p:sp>
        <p:nvSpPr>
          <p:cNvPr id="14" name="TextBox 13"/>
          <p:cNvSpPr txBox="1"/>
          <p:nvPr/>
        </p:nvSpPr>
        <p:spPr>
          <a:xfrm>
            <a:off x="8001000" y="2423160"/>
            <a:ext cx="3520440" cy="731520"/>
          </a:xfrm>
          <a:prstGeom prst="rect">
            <a:avLst/>
          </a:prstGeom>
          <a:noFill/>
        </p:spPr>
        <p:txBody>
          <a:bodyPr wrap="square" lIns="0" rIns="0" tIns="0" bIns="0" anchor="t">
            <a:noAutofit/>
          </a:bodyPr>
          <a:lstStyle/>
          <a:p>
            <a:pPr algn="l">
              <a:spcAft>
                <a:spcPts val="0"/>
              </a:spcAft>
            </a:pPr>
            <a:r>
              <a:rPr sz="1600" b="0">
                <a:solidFill>
                  <a:srgbClr val="535969"/>
                </a:solidFill>
                <a:latin typeface="Arial"/>
              </a:rPr>
              <a:t>One charged atom floats in a trap. Lasers control it.</a:t>
            </a:r>
          </a:p>
        </p:txBody>
      </p:sp>
      <p:sp>
        <p:nvSpPr>
          <p:cNvPr id="15" name="Rounded Rectangle 14"/>
          <p:cNvSpPr/>
          <p:nvPr/>
        </p:nvSpPr>
        <p:spPr>
          <a:xfrm>
            <a:off x="6675120" y="3291840"/>
            <a:ext cx="4983480" cy="1325880"/>
          </a:xfrm>
          <a:prstGeom prst="roundRect">
            <a:avLst>
              <a:gd name="adj" fmla="val 5000"/>
            </a:avLst>
          </a:prstGeom>
          <a:solidFill>
            <a:srgbClr val="FFFFFF"/>
          </a:solidFill>
          <a:ln w="19050">
            <a:solidFill>
              <a:srgbClr val="D5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974128" y="3609136"/>
            <a:ext cx="691286" cy="691286"/>
          </a:xfrm>
          <a:prstGeom prst="roundRect">
            <a:avLst>
              <a:gd name="adj" fmla="val 14000"/>
            </a:avLst>
          </a:prstGeom>
          <a:noFill/>
          <a:ln w="50800">
            <a:solidFill>
              <a:srgbClr val="202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07808" y="3858768"/>
            <a:ext cx="115214" cy="1920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2593" y="3801160"/>
            <a:ext cx="345643" cy="307238"/>
          </a:xfrm>
          <a:prstGeom prst="rect">
            <a:avLst/>
          </a:prstGeom>
          <a:noFill/>
        </p:spPr>
        <p:txBody>
          <a:bodyPr wrap="square" lIns="0" rIns="0" tIns="0" bIns="0" anchor="ctr">
            <a:noAutofit/>
          </a:bodyPr>
          <a:lstStyle/>
          <a:p>
            <a:pPr algn="ctr">
              <a:spcAft>
                <a:spcPts val="0"/>
              </a:spcAft>
            </a:pPr>
            <a:r>
              <a:rPr sz="2200" b="1">
                <a:solidFill>
                  <a:srgbClr val="B41524"/>
                </a:solidFill>
                <a:latin typeface="Arial"/>
              </a:rPr>
              <a:t>×</a:t>
            </a:r>
          </a:p>
        </p:txBody>
      </p:sp>
      <p:sp>
        <p:nvSpPr>
          <p:cNvPr id="19" name="TextBox 18"/>
          <p:cNvSpPr txBox="1"/>
          <p:nvPr/>
        </p:nvSpPr>
        <p:spPr>
          <a:xfrm>
            <a:off x="8001000" y="3429000"/>
            <a:ext cx="3520440" cy="384048"/>
          </a:xfrm>
          <a:prstGeom prst="rect">
            <a:avLst/>
          </a:prstGeom>
          <a:noFill/>
        </p:spPr>
        <p:txBody>
          <a:bodyPr wrap="square" lIns="0" rIns="0" tIns="0" bIns="0" anchor="t">
            <a:noAutofit/>
          </a:bodyPr>
          <a:lstStyle/>
          <a:p>
            <a:pPr algn="l">
              <a:spcAft>
                <a:spcPts val="0"/>
              </a:spcAft>
            </a:pPr>
            <a:r>
              <a:rPr sz="2000" b="1">
                <a:solidFill>
                  <a:srgbClr val="202435"/>
                </a:solidFill>
                <a:latin typeface="Arial"/>
              </a:rPr>
              <a:t>Superconducting circuit</a:t>
            </a:r>
          </a:p>
        </p:txBody>
      </p:sp>
      <p:sp>
        <p:nvSpPr>
          <p:cNvPr id="20" name="TextBox 19"/>
          <p:cNvSpPr txBox="1"/>
          <p:nvPr/>
        </p:nvSpPr>
        <p:spPr>
          <a:xfrm>
            <a:off x="8001000" y="3840480"/>
            <a:ext cx="3520440" cy="731520"/>
          </a:xfrm>
          <a:prstGeom prst="rect">
            <a:avLst/>
          </a:prstGeom>
          <a:noFill/>
        </p:spPr>
        <p:txBody>
          <a:bodyPr wrap="square" lIns="0" rIns="0" tIns="0" bIns="0" anchor="t">
            <a:noAutofit/>
          </a:bodyPr>
          <a:lstStyle/>
          <a:p>
            <a:pPr algn="l">
              <a:spcAft>
                <a:spcPts val="0"/>
              </a:spcAft>
            </a:pPr>
            <a:r>
              <a:rPr sz="1600" b="0">
                <a:solidFill>
                  <a:srgbClr val="535969"/>
                </a:solidFill>
                <a:latin typeface="Arial"/>
              </a:rPr>
              <a:t>A tiny circuit is kept colder than outer space. Microwaves control it.</a:t>
            </a:r>
          </a:p>
        </p:txBody>
      </p:sp>
      <p:sp>
        <p:nvSpPr>
          <p:cNvPr id="21" name="Rounded Rectangle 20"/>
          <p:cNvSpPr/>
          <p:nvPr/>
        </p:nvSpPr>
        <p:spPr>
          <a:xfrm>
            <a:off x="6675120" y="4709160"/>
            <a:ext cx="4983480" cy="1325880"/>
          </a:xfrm>
          <a:prstGeom prst="roundRect">
            <a:avLst>
              <a:gd name="adj" fmla="val 5000"/>
            </a:avLst>
          </a:prstGeom>
          <a:solidFill>
            <a:srgbClr val="FFFFFF"/>
          </a:solidFill>
          <a:ln w="19050">
            <a:solidFill>
              <a:srgbClr val="D5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858914" y="5180076"/>
            <a:ext cx="864108" cy="382405"/>
          </a:xfrm>
          <a:custGeom>
            <a:avLst/>
            <a:gdLst/>
            <a:ahLst/>
            <a:cxnLst/>
            <a:rect l="l" t="t" r="r" b="b"/>
            <a:pathLst>
              <a:path w="864108" h="382405">
                <a:moveTo>
                  <a:pt x="0" y="192024"/>
                </a:moveTo>
                <a:lnTo>
                  <a:pt x="18002" y="130299"/>
                </a:lnTo>
                <a:lnTo>
                  <a:pt x="36004" y="75127"/>
                </a:lnTo>
                <a:lnTo>
                  <a:pt x="54007" y="32361"/>
                </a:lnTo>
                <a:lnTo>
                  <a:pt x="72009" y="6543"/>
                </a:lnTo>
                <a:lnTo>
                  <a:pt x="90011" y="411"/>
                </a:lnTo>
                <a:lnTo>
                  <a:pt x="108013" y="14616"/>
                </a:lnTo>
                <a:lnTo>
                  <a:pt x="126016" y="47652"/>
                </a:lnTo>
                <a:lnTo>
                  <a:pt x="144018" y="96012"/>
                </a:lnTo>
                <a:lnTo>
                  <a:pt x="162020" y="154561"/>
                </a:lnTo>
                <a:lnTo>
                  <a:pt x="180022" y="217088"/>
                </a:lnTo>
                <a:lnTo>
                  <a:pt x="198025" y="276954"/>
                </a:lnTo>
                <a:lnTo>
                  <a:pt x="216027" y="327805"/>
                </a:lnTo>
                <a:lnTo>
                  <a:pt x="234029" y="364245"/>
                </a:lnTo>
                <a:lnTo>
                  <a:pt x="252031" y="382405"/>
                </a:lnTo>
                <a:lnTo>
                  <a:pt x="270034" y="380358"/>
                </a:lnTo>
                <a:lnTo>
                  <a:pt x="288036" y="358321"/>
                </a:lnTo>
                <a:lnTo>
                  <a:pt x="306038" y="318634"/>
                </a:lnTo>
                <a:lnTo>
                  <a:pt x="324040" y="265508"/>
                </a:lnTo>
                <a:lnTo>
                  <a:pt x="342043" y="204582"/>
                </a:lnTo>
                <a:lnTo>
                  <a:pt x="360045" y="142324"/>
                </a:lnTo>
                <a:lnTo>
                  <a:pt x="378047" y="85341"/>
                </a:lnTo>
                <a:lnTo>
                  <a:pt x="396049" y="39681"/>
                </a:lnTo>
                <a:lnTo>
                  <a:pt x="414052" y="10190"/>
                </a:lnTo>
                <a:lnTo>
                  <a:pt x="432054" y="0"/>
                </a:lnTo>
                <a:lnTo>
                  <a:pt x="450056" y="10190"/>
                </a:lnTo>
                <a:lnTo>
                  <a:pt x="468058" y="39681"/>
                </a:lnTo>
                <a:lnTo>
                  <a:pt x="486061" y="85341"/>
                </a:lnTo>
                <a:lnTo>
                  <a:pt x="504063" y="142324"/>
                </a:lnTo>
                <a:lnTo>
                  <a:pt x="522065" y="204582"/>
                </a:lnTo>
                <a:lnTo>
                  <a:pt x="540067" y="265508"/>
                </a:lnTo>
                <a:lnTo>
                  <a:pt x="558070" y="318634"/>
                </a:lnTo>
                <a:lnTo>
                  <a:pt x="576072" y="358321"/>
                </a:lnTo>
                <a:lnTo>
                  <a:pt x="594074" y="380358"/>
                </a:lnTo>
                <a:lnTo>
                  <a:pt x="612076" y="382405"/>
                </a:lnTo>
                <a:lnTo>
                  <a:pt x="630079" y="364245"/>
                </a:lnTo>
                <a:lnTo>
                  <a:pt x="648081" y="327805"/>
                </a:lnTo>
                <a:lnTo>
                  <a:pt x="666083" y="276954"/>
                </a:lnTo>
                <a:lnTo>
                  <a:pt x="684085" y="217088"/>
                </a:lnTo>
                <a:lnTo>
                  <a:pt x="702088" y="154561"/>
                </a:lnTo>
                <a:lnTo>
                  <a:pt x="720090" y="96012"/>
                </a:lnTo>
                <a:lnTo>
                  <a:pt x="738092" y="47652"/>
                </a:lnTo>
                <a:lnTo>
                  <a:pt x="756094" y="14616"/>
                </a:lnTo>
                <a:lnTo>
                  <a:pt x="774097" y="411"/>
                </a:lnTo>
                <a:lnTo>
                  <a:pt x="792099" y="6543"/>
                </a:lnTo>
                <a:lnTo>
                  <a:pt x="810101" y="32361"/>
                </a:lnTo>
                <a:lnTo>
                  <a:pt x="828103" y="75127"/>
                </a:lnTo>
                <a:lnTo>
                  <a:pt x="846106" y="130299"/>
                </a:lnTo>
                <a:lnTo>
                  <a:pt x="864108" y="192024"/>
                </a:lnTo>
              </a:path>
            </a:pathLst>
          </a:custGeom>
          <a:noFill/>
          <a:ln w="38100">
            <a:solidFill>
              <a:srgbClr val="B41524"/>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01000" y="4846320"/>
            <a:ext cx="3520440" cy="384048"/>
          </a:xfrm>
          <a:prstGeom prst="rect">
            <a:avLst/>
          </a:prstGeom>
          <a:noFill/>
        </p:spPr>
        <p:txBody>
          <a:bodyPr wrap="square" lIns="0" rIns="0" tIns="0" bIns="0" anchor="t">
            <a:noAutofit/>
          </a:bodyPr>
          <a:lstStyle/>
          <a:p>
            <a:pPr algn="l">
              <a:spcAft>
                <a:spcPts val="0"/>
              </a:spcAft>
            </a:pPr>
            <a:r>
              <a:rPr sz="2000" b="1">
                <a:solidFill>
                  <a:srgbClr val="202435"/>
                </a:solidFill>
                <a:latin typeface="Arial"/>
              </a:rPr>
              <a:t>Photon</a:t>
            </a:r>
          </a:p>
        </p:txBody>
      </p:sp>
      <p:sp>
        <p:nvSpPr>
          <p:cNvPr id="24" name="TextBox 23"/>
          <p:cNvSpPr txBox="1"/>
          <p:nvPr/>
        </p:nvSpPr>
        <p:spPr>
          <a:xfrm>
            <a:off x="8001000" y="5257800"/>
            <a:ext cx="3520440" cy="731520"/>
          </a:xfrm>
          <a:prstGeom prst="rect">
            <a:avLst/>
          </a:prstGeom>
          <a:noFill/>
        </p:spPr>
        <p:txBody>
          <a:bodyPr wrap="square" lIns="0" rIns="0" tIns="0" bIns="0" anchor="t">
            <a:noAutofit/>
          </a:bodyPr>
          <a:lstStyle/>
          <a:p>
            <a:pPr algn="l">
              <a:spcAft>
                <a:spcPts val="0"/>
              </a:spcAft>
            </a:pPr>
            <a:r>
              <a:rPr sz="1600" b="0">
                <a:solidFill>
                  <a:srgbClr val="535969"/>
                </a:solidFill>
                <a:latin typeface="Arial"/>
              </a:rPr>
              <a:t>A photon is a particle of light. The way it wiggles stores 0 or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lIns="0" rIns="0" tIns="0" bIns="0" anchor="b">
            <a:noAutofit/>
          </a:bodyPr>
          <a:lstStyle/>
          <a:p>
            <a:pPr algn="l">
              <a:spcAft>
                <a:spcPts val="0"/>
              </a:spcAft>
            </a:pPr>
            <a:r>
              <a:rPr sz="3400" b="1">
                <a:solidFill>
                  <a:srgbClr val="202435"/>
                </a:solidFill>
                <a:latin typeface="Arial"/>
              </a:rPr>
              <a:t>Entanglement links two particles</a:t>
            </a:r>
          </a:p>
        </p:txBody>
      </p:sp>
      <p:sp>
        <p:nvSpPr>
          <p:cNvPr id="3" name="Rectangle 2"/>
          <p:cNvSpPr/>
          <p:nvPr/>
        </p:nvSpPr>
        <p:spPr>
          <a:xfrm>
            <a:off x="548640" y="1243584"/>
            <a:ext cx="1097280" cy="64008"/>
          </a:xfrm>
          <a:prstGeom prst="rect">
            <a:avLst/>
          </a:prstGeom>
          <a:solidFill>
            <a:srgbClr val="B41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382512"/>
            <a:ext cx="7315200" cy="292608"/>
          </a:xfrm>
          <a:prstGeom prst="rect">
            <a:avLst/>
          </a:prstGeom>
          <a:noFill/>
        </p:spPr>
        <p:txBody>
          <a:bodyPr wrap="square" lIns="0" rIns="0" tIns="0" bIns="0" anchor="t">
            <a:noAutofit/>
          </a:bodyPr>
          <a:lstStyle/>
          <a:p>
            <a:pPr algn="l">
              <a:spcAft>
                <a:spcPts val="0"/>
              </a:spcAft>
            </a:pPr>
            <a:r>
              <a:rPr sz="1200" b="0">
                <a:solidFill>
                  <a:srgbClr val="535969"/>
                </a:solidFill>
                <a:latin typeface="Arial"/>
              </a:rPr>
              <a:t>GHOST GRID  ·  Superposition Tic-Tac-Toe</a:t>
            </a:r>
          </a:p>
        </p:txBody>
      </p:sp>
      <p:sp>
        <p:nvSpPr>
          <p:cNvPr id="5" name="TextBox 4"/>
          <p:cNvSpPr txBox="1"/>
          <p:nvPr/>
        </p:nvSpPr>
        <p:spPr>
          <a:xfrm>
            <a:off x="10241280" y="6382512"/>
            <a:ext cx="1417320" cy="292608"/>
          </a:xfrm>
          <a:prstGeom prst="rect">
            <a:avLst/>
          </a:prstGeom>
          <a:noFill/>
        </p:spPr>
        <p:txBody>
          <a:bodyPr wrap="square" lIns="0" rIns="0" tIns="0" bIns="0" anchor="t">
            <a:noAutofit/>
          </a:bodyPr>
          <a:lstStyle/>
          <a:p>
            <a:pPr algn="r">
              <a:spcAft>
                <a:spcPts val="0"/>
              </a:spcAft>
            </a:pPr>
            <a:r>
              <a:rPr sz="1200" b="0">
                <a:solidFill>
                  <a:srgbClr val="535969"/>
                </a:solidFill>
                <a:latin typeface="Arial"/>
              </a:rPr>
              <a:t>4 / 7</a:t>
            </a:r>
          </a:p>
        </p:txBody>
      </p:sp>
      <p:sp>
        <p:nvSpPr>
          <p:cNvPr id="6" name="TextBox 5"/>
          <p:cNvSpPr txBox="1"/>
          <p:nvPr/>
        </p:nvSpPr>
        <p:spPr>
          <a:xfrm>
            <a:off x="548640" y="1554480"/>
            <a:ext cx="5852160" cy="4572000"/>
          </a:xfrm>
          <a:prstGeom prst="rect">
            <a:avLst/>
          </a:prstGeom>
          <a:noFill/>
        </p:spPr>
        <p:txBody>
          <a:bodyPr wrap="square" lIns="0" rIns="0" tIns="0" bIns="0" anchor="t">
            <a:noAutofit/>
          </a:bodyPr>
          <a:lstStyle/>
          <a:p>
            <a:pPr algn="l" marL="384048" indent="-384048">
              <a:spcAft>
                <a:spcPts val="1400"/>
              </a:spcAft>
              <a:buClr>
                <a:srgbClr val="B41524"/>
              </a:buClr>
              <a:buFont typeface="Arial"/>
              <a:buChar char="•"/>
            </a:pPr>
            <a:r>
              <a:rPr sz="2200" b="0">
                <a:solidFill>
                  <a:srgbClr val="202435"/>
                </a:solidFill>
                <a:latin typeface="Arial"/>
              </a:rPr>
              <a:t>Particles become entangled when they interact or are created together.</a:t>
            </a:r>
          </a:p>
          <a:p>
            <a:pPr algn="l" marL="384048" indent="-384048">
              <a:spcAft>
                <a:spcPts val="1400"/>
              </a:spcAft>
              <a:buClr>
                <a:srgbClr val="B41524"/>
              </a:buClr>
              <a:buFont typeface="Arial"/>
              <a:buChar char="•"/>
            </a:pPr>
            <a:r>
              <a:rPr sz="2200" b="0">
                <a:solidFill>
                  <a:srgbClr val="202435"/>
                </a:solidFill>
                <a:latin typeface="Arial"/>
              </a:rPr>
              <a:t>Entangled particles share one quantum state, even far apart.</a:t>
            </a:r>
          </a:p>
          <a:p>
            <a:pPr algn="l" marL="384048" indent="-384048">
              <a:spcAft>
                <a:spcPts val="1400"/>
              </a:spcAft>
              <a:buClr>
                <a:srgbClr val="B41524"/>
              </a:buClr>
              <a:buFont typeface="Arial"/>
              <a:buChar char="•"/>
            </a:pPr>
            <a:r>
              <a:rPr sz="2200" b="0">
                <a:solidFill>
                  <a:srgbClr val="202435"/>
                </a:solidFill>
                <a:latin typeface="Arial"/>
              </a:rPr>
              <a:t>In a simple pair, if one shows 0, the other shows 0 too.</a:t>
            </a:r>
          </a:p>
          <a:p>
            <a:pPr algn="l" marL="384048" indent="-384048">
              <a:spcAft>
                <a:spcPts val="1400"/>
              </a:spcAft>
              <a:buClr>
                <a:srgbClr val="B41524"/>
              </a:buClr>
              <a:buFont typeface="Arial"/>
              <a:buChar char="•"/>
            </a:pPr>
            <a:r>
              <a:rPr sz="2200" b="0">
                <a:solidFill>
                  <a:srgbClr val="202435"/>
                </a:solidFill>
                <a:latin typeface="Arial"/>
              </a:rPr>
              <a:t>Each result is random, so entanglement cannot send messages faster than light.</a:t>
            </a:r>
          </a:p>
          <a:p>
            <a:pPr algn="l" marL="384048" indent="-384048">
              <a:spcAft>
                <a:spcPts val="1400"/>
              </a:spcAft>
              <a:buClr>
                <a:srgbClr val="B41524"/>
              </a:buClr>
              <a:buFont typeface="Arial"/>
              <a:buChar char="•"/>
            </a:pPr>
            <a:r>
              <a:rPr sz="2200" b="0">
                <a:solidFill>
                  <a:srgbClr val="202435"/>
                </a:solidFill>
                <a:latin typeface="Arial"/>
              </a:rPr>
              <a:t>Quantum computers entangle qubits so they can work together.</a:t>
            </a:r>
          </a:p>
        </p:txBody>
      </p:sp>
      <p:sp>
        <p:nvSpPr>
          <p:cNvPr id="7" name="TextBox 6"/>
          <p:cNvSpPr txBox="1"/>
          <p:nvPr/>
        </p:nvSpPr>
        <p:spPr>
          <a:xfrm>
            <a:off x="6675120" y="1463040"/>
            <a:ext cx="4983480" cy="384048"/>
          </a:xfrm>
          <a:prstGeom prst="rect">
            <a:avLst/>
          </a:prstGeom>
          <a:noFill/>
        </p:spPr>
        <p:txBody>
          <a:bodyPr wrap="square" lIns="0" rIns="0" tIns="0" bIns="0" anchor="t">
            <a:noAutofit/>
          </a:bodyPr>
          <a:lstStyle/>
          <a:p>
            <a:pPr algn="ctr">
              <a:spcAft>
                <a:spcPts val="0"/>
              </a:spcAft>
            </a:pPr>
            <a:r>
              <a:rPr sz="1800" b="1">
                <a:solidFill>
                  <a:srgbClr val="535969"/>
                </a:solidFill>
                <a:latin typeface="Arial"/>
              </a:rPr>
              <a:t>How scientists make entangled photons</a:t>
            </a:r>
          </a:p>
        </p:txBody>
      </p:sp>
      <p:sp>
        <p:nvSpPr>
          <p:cNvPr id="8" name="Rounded Rectangle 7"/>
          <p:cNvSpPr/>
          <p:nvPr/>
        </p:nvSpPr>
        <p:spPr>
          <a:xfrm>
            <a:off x="6812280" y="2514600"/>
            <a:ext cx="1051560" cy="566928"/>
          </a:xfrm>
          <a:prstGeom prst="roundRect">
            <a:avLst>
              <a:gd name="adj" fmla="val 15000"/>
            </a:avLst>
          </a:prstGeom>
          <a:solidFill>
            <a:srgbClr val="2024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FFFFFF"/>
                </a:solidFill>
                <a:latin typeface="Arial"/>
              </a:rPr>
              <a:t>Laser</a:t>
            </a:r>
          </a:p>
        </p:txBody>
      </p:sp>
      <p:cxnSp>
        <p:nvCxnSpPr>
          <p:cNvPr id="9" name="Connector 8"/>
          <p:cNvCxnSpPr/>
          <p:nvPr/>
        </p:nvCxnSpPr>
        <p:spPr>
          <a:xfrm>
            <a:off x="7863840" y="2798064"/>
            <a:ext cx="868680" cy="0"/>
          </a:xfrm>
          <a:prstGeom prst="line">
            <a:avLst/>
          </a:prstGeom>
          <a:ln w="50800">
            <a:solidFill>
              <a:srgbClr val="B41524"/>
            </a:solidFill>
          </a:ln>
        </p:spPr>
        <p:style>
          <a:lnRef idx="2">
            <a:schemeClr val="accent1"/>
          </a:lnRef>
          <a:fillRef idx="0">
            <a:schemeClr val="accent1"/>
          </a:fillRef>
          <a:effectRef idx="1">
            <a:schemeClr val="accent1"/>
          </a:effectRef>
          <a:fontRef idx="minor">
            <a:schemeClr val="tx1"/>
          </a:fontRef>
        </p:style>
      </p:cxnSp>
      <p:sp>
        <p:nvSpPr>
          <p:cNvPr id="10" name="Diamond 9"/>
          <p:cNvSpPr/>
          <p:nvPr/>
        </p:nvSpPr>
        <p:spPr>
          <a:xfrm>
            <a:off x="8732520" y="2386584"/>
            <a:ext cx="822960" cy="822960"/>
          </a:xfrm>
          <a:prstGeom prst="diamond">
            <a:avLst/>
          </a:prstGeom>
          <a:solidFill>
            <a:srgbClr val="DCE7F7"/>
          </a:solidFill>
          <a:ln w="25400">
            <a:solidFill>
              <a:srgbClr val="154C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0" y="3246120"/>
            <a:ext cx="1280160" cy="320040"/>
          </a:xfrm>
          <a:prstGeom prst="rect">
            <a:avLst/>
          </a:prstGeom>
          <a:noFill/>
        </p:spPr>
        <p:txBody>
          <a:bodyPr wrap="square" lIns="0" rIns="0" tIns="0" bIns="0" anchor="t">
            <a:noAutofit/>
          </a:bodyPr>
          <a:lstStyle/>
          <a:p>
            <a:pPr algn="ctr">
              <a:spcAft>
                <a:spcPts val="0"/>
              </a:spcAft>
            </a:pPr>
            <a:r>
              <a:rPr sz="1400" b="0">
                <a:solidFill>
                  <a:srgbClr val="535969"/>
                </a:solidFill>
                <a:latin typeface="Arial"/>
              </a:rPr>
              <a:t>Crystal</a:t>
            </a:r>
          </a:p>
        </p:txBody>
      </p:sp>
      <p:cxnSp>
        <p:nvCxnSpPr>
          <p:cNvPr id="12" name="Connector 11"/>
          <p:cNvCxnSpPr/>
          <p:nvPr/>
        </p:nvCxnSpPr>
        <p:spPr>
          <a:xfrm flipV="1">
            <a:off x="9555480" y="2103120"/>
            <a:ext cx="1371600" cy="694944"/>
          </a:xfrm>
          <a:prstGeom prst="line">
            <a:avLst/>
          </a:prstGeom>
          <a:ln w="38100">
            <a:solidFill>
              <a:srgbClr val="B41524"/>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927080" y="1810512"/>
            <a:ext cx="585216" cy="585216"/>
          </a:xfrm>
          <a:prstGeom prst="ellipse">
            <a:avLst/>
          </a:prstGeom>
          <a:solidFill>
            <a:srgbClr val="154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Arial"/>
              </a:rPr>
              <a:t>A</a:t>
            </a:r>
          </a:p>
        </p:txBody>
      </p:sp>
      <p:cxnSp>
        <p:nvCxnSpPr>
          <p:cNvPr id="14" name="Connector 13"/>
          <p:cNvCxnSpPr/>
          <p:nvPr/>
        </p:nvCxnSpPr>
        <p:spPr>
          <a:xfrm>
            <a:off x="9555480" y="2798064"/>
            <a:ext cx="1371600" cy="694944"/>
          </a:xfrm>
          <a:prstGeom prst="line">
            <a:avLst/>
          </a:prstGeom>
          <a:ln w="38100">
            <a:solidFill>
              <a:srgbClr val="B41524"/>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927080" y="3200400"/>
            <a:ext cx="585216" cy="585216"/>
          </a:xfrm>
          <a:prstGeom prst="ellipse">
            <a:avLst/>
          </a:prstGeom>
          <a:solidFill>
            <a:srgbClr val="154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Arial"/>
              </a:rPr>
              <a:t>B</a:t>
            </a:r>
          </a:p>
        </p:txBody>
      </p:sp>
      <p:sp>
        <p:nvSpPr>
          <p:cNvPr id="16" name="TextBox 15"/>
          <p:cNvSpPr txBox="1"/>
          <p:nvPr/>
        </p:nvSpPr>
        <p:spPr>
          <a:xfrm>
            <a:off x="6675120" y="3931920"/>
            <a:ext cx="4983480" cy="365760"/>
          </a:xfrm>
          <a:prstGeom prst="rect">
            <a:avLst/>
          </a:prstGeom>
          <a:noFill/>
        </p:spPr>
        <p:txBody>
          <a:bodyPr wrap="square" lIns="0" rIns="0" tIns="0" bIns="0" anchor="t">
            <a:noAutofit/>
          </a:bodyPr>
          <a:lstStyle/>
          <a:p>
            <a:pPr algn="ctr">
              <a:spcAft>
                <a:spcPts val="0"/>
              </a:spcAft>
            </a:pPr>
            <a:r>
              <a:rPr sz="1600" b="0">
                <a:solidFill>
                  <a:srgbClr val="535969"/>
                </a:solidFill>
                <a:latin typeface="Arial"/>
              </a:rPr>
              <a:t>One photon can split into two entangled photons.</a:t>
            </a:r>
          </a:p>
        </p:txBody>
      </p:sp>
      <p:sp>
        <p:nvSpPr>
          <p:cNvPr id="17" name="TextBox 16"/>
          <p:cNvSpPr txBox="1"/>
          <p:nvPr/>
        </p:nvSpPr>
        <p:spPr>
          <a:xfrm>
            <a:off x="6675120" y="4526280"/>
            <a:ext cx="4983480" cy="384048"/>
          </a:xfrm>
          <a:prstGeom prst="rect">
            <a:avLst/>
          </a:prstGeom>
          <a:noFill/>
        </p:spPr>
        <p:txBody>
          <a:bodyPr wrap="square" lIns="0" rIns="0" tIns="0" bIns="0" anchor="t">
            <a:noAutofit/>
          </a:bodyPr>
          <a:lstStyle/>
          <a:p>
            <a:pPr algn="ctr">
              <a:spcAft>
                <a:spcPts val="0"/>
              </a:spcAft>
            </a:pPr>
            <a:r>
              <a:rPr sz="1800" b="1">
                <a:solidFill>
                  <a:srgbClr val="535969"/>
                </a:solidFill>
                <a:latin typeface="Arial"/>
              </a:rPr>
              <a:t>Measure both photons</a:t>
            </a:r>
          </a:p>
        </p:txBody>
      </p:sp>
      <p:sp>
        <p:nvSpPr>
          <p:cNvPr id="18" name="Rounded Rectangle 17"/>
          <p:cNvSpPr/>
          <p:nvPr/>
        </p:nvSpPr>
        <p:spPr>
          <a:xfrm>
            <a:off x="6903720" y="4937760"/>
            <a:ext cx="960120" cy="502920"/>
          </a:xfrm>
          <a:prstGeom prst="roundRect">
            <a:avLst>
              <a:gd name="adj" fmla="val 25000"/>
            </a:avLst>
          </a:prstGeom>
          <a:solidFill>
            <a:srgbClr val="FFFFFF"/>
          </a:solidFill>
          <a:ln w="25400">
            <a:solidFill>
              <a:srgbClr val="154C9C"/>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154C9C"/>
                </a:solidFill>
                <a:latin typeface="Arial"/>
              </a:rPr>
              <a:t>A: 0</a:t>
            </a:r>
          </a:p>
        </p:txBody>
      </p:sp>
      <p:sp>
        <p:nvSpPr>
          <p:cNvPr id="19" name="Rounded Rectangle 18"/>
          <p:cNvSpPr/>
          <p:nvPr/>
        </p:nvSpPr>
        <p:spPr>
          <a:xfrm>
            <a:off x="7955279" y="4937760"/>
            <a:ext cx="960120" cy="502920"/>
          </a:xfrm>
          <a:prstGeom prst="roundRect">
            <a:avLst>
              <a:gd name="adj" fmla="val 25000"/>
            </a:avLst>
          </a:prstGeom>
          <a:solidFill>
            <a:srgbClr val="FFFFFF"/>
          </a:solidFill>
          <a:ln w="25400">
            <a:solidFill>
              <a:srgbClr val="154C9C"/>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154C9C"/>
                </a:solidFill>
                <a:latin typeface="Arial"/>
              </a:rPr>
              <a:t>B: 0</a:t>
            </a:r>
          </a:p>
        </p:txBody>
      </p:sp>
      <p:sp>
        <p:nvSpPr>
          <p:cNvPr id="20" name="Rounded Rectangle 19"/>
          <p:cNvSpPr/>
          <p:nvPr/>
        </p:nvSpPr>
        <p:spPr>
          <a:xfrm>
            <a:off x="9509760" y="4937760"/>
            <a:ext cx="960120" cy="502920"/>
          </a:xfrm>
          <a:prstGeom prst="roundRect">
            <a:avLst>
              <a:gd name="adj" fmla="val 25000"/>
            </a:avLst>
          </a:prstGeom>
          <a:solidFill>
            <a:srgbClr val="FFFFFF"/>
          </a:solidFill>
          <a:ln w="25400">
            <a:solidFill>
              <a:srgbClr val="154C9C"/>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154C9C"/>
                </a:solidFill>
                <a:latin typeface="Arial"/>
              </a:rPr>
              <a:t>A: 1</a:t>
            </a:r>
          </a:p>
        </p:txBody>
      </p:sp>
      <p:sp>
        <p:nvSpPr>
          <p:cNvPr id="21" name="Rounded Rectangle 20"/>
          <p:cNvSpPr/>
          <p:nvPr/>
        </p:nvSpPr>
        <p:spPr>
          <a:xfrm>
            <a:off x="10561320" y="4937760"/>
            <a:ext cx="960120" cy="502920"/>
          </a:xfrm>
          <a:prstGeom prst="roundRect">
            <a:avLst>
              <a:gd name="adj" fmla="val 25000"/>
            </a:avLst>
          </a:prstGeom>
          <a:solidFill>
            <a:srgbClr val="FFFFFF"/>
          </a:solidFill>
          <a:ln w="25400">
            <a:solidFill>
              <a:srgbClr val="154C9C"/>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154C9C"/>
                </a:solidFill>
                <a:latin typeface="Arial"/>
              </a:rPr>
              <a:t>B: 1</a:t>
            </a:r>
          </a:p>
        </p:txBody>
      </p:sp>
      <p:sp>
        <p:nvSpPr>
          <p:cNvPr id="22" name="TextBox 21"/>
          <p:cNvSpPr txBox="1"/>
          <p:nvPr/>
        </p:nvSpPr>
        <p:spPr>
          <a:xfrm>
            <a:off x="8915400" y="4983480"/>
            <a:ext cx="594360" cy="411480"/>
          </a:xfrm>
          <a:prstGeom prst="rect">
            <a:avLst/>
          </a:prstGeom>
          <a:noFill/>
        </p:spPr>
        <p:txBody>
          <a:bodyPr wrap="square" lIns="0" rIns="0" tIns="0" bIns="0" anchor="ctr">
            <a:noAutofit/>
          </a:bodyPr>
          <a:lstStyle/>
          <a:p>
            <a:pPr algn="ctr">
              <a:spcAft>
                <a:spcPts val="0"/>
              </a:spcAft>
            </a:pPr>
            <a:r>
              <a:rPr sz="1600" b="0">
                <a:solidFill>
                  <a:srgbClr val="535969"/>
                </a:solidFill>
                <a:latin typeface="Arial"/>
              </a:rPr>
              <a:t>or</a:t>
            </a:r>
          </a:p>
        </p:txBody>
      </p:sp>
      <p:sp>
        <p:nvSpPr>
          <p:cNvPr id="23" name="TextBox 22"/>
          <p:cNvSpPr txBox="1"/>
          <p:nvPr/>
        </p:nvSpPr>
        <p:spPr>
          <a:xfrm>
            <a:off x="6675120" y="5550408"/>
            <a:ext cx="4983480" cy="365760"/>
          </a:xfrm>
          <a:prstGeom prst="rect">
            <a:avLst/>
          </a:prstGeom>
          <a:noFill/>
        </p:spPr>
        <p:txBody>
          <a:bodyPr wrap="square" lIns="0" rIns="0" tIns="0" bIns="0" anchor="t">
            <a:noAutofit/>
          </a:bodyPr>
          <a:lstStyle/>
          <a:p>
            <a:pPr algn="ctr">
              <a:spcAft>
                <a:spcPts val="0"/>
              </a:spcAft>
            </a:pPr>
            <a:r>
              <a:rPr sz="1600" b="0">
                <a:solidFill>
                  <a:srgbClr val="535969"/>
                </a:solidFill>
                <a:latin typeface="Arial"/>
              </a:rPr>
              <a:t>The results match. Which one you get is random.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lIns="0" rIns="0" tIns="0" bIns="0" anchor="b">
            <a:noAutofit/>
          </a:bodyPr>
          <a:lstStyle/>
          <a:p>
            <a:pPr algn="l">
              <a:spcAft>
                <a:spcPts val="0"/>
              </a:spcAft>
            </a:pPr>
            <a:r>
              <a:rPr sz="3400" b="1">
                <a:solidFill>
                  <a:srgbClr val="202435"/>
                </a:solidFill>
                <a:latin typeface="Arial"/>
              </a:rPr>
              <a:t>On your turn, pick one kind of move</a:t>
            </a:r>
          </a:p>
        </p:txBody>
      </p:sp>
      <p:sp>
        <p:nvSpPr>
          <p:cNvPr id="3" name="Rectangle 2"/>
          <p:cNvSpPr/>
          <p:nvPr/>
        </p:nvSpPr>
        <p:spPr>
          <a:xfrm>
            <a:off x="548640" y="1243584"/>
            <a:ext cx="1097280" cy="64008"/>
          </a:xfrm>
          <a:prstGeom prst="rect">
            <a:avLst/>
          </a:prstGeom>
          <a:solidFill>
            <a:srgbClr val="B41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382512"/>
            <a:ext cx="7315200" cy="292608"/>
          </a:xfrm>
          <a:prstGeom prst="rect">
            <a:avLst/>
          </a:prstGeom>
          <a:noFill/>
        </p:spPr>
        <p:txBody>
          <a:bodyPr wrap="square" lIns="0" rIns="0" tIns="0" bIns="0" anchor="t">
            <a:noAutofit/>
          </a:bodyPr>
          <a:lstStyle/>
          <a:p>
            <a:pPr algn="l">
              <a:spcAft>
                <a:spcPts val="0"/>
              </a:spcAft>
            </a:pPr>
            <a:r>
              <a:rPr sz="1200" b="0">
                <a:solidFill>
                  <a:srgbClr val="535969"/>
                </a:solidFill>
                <a:latin typeface="Arial"/>
              </a:rPr>
              <a:t>GHOST GRID  ·  Superposition Tic-Tac-Toe</a:t>
            </a:r>
          </a:p>
        </p:txBody>
      </p:sp>
      <p:sp>
        <p:nvSpPr>
          <p:cNvPr id="5" name="TextBox 4"/>
          <p:cNvSpPr txBox="1"/>
          <p:nvPr/>
        </p:nvSpPr>
        <p:spPr>
          <a:xfrm>
            <a:off x="10241280" y="6382512"/>
            <a:ext cx="1417320" cy="292608"/>
          </a:xfrm>
          <a:prstGeom prst="rect">
            <a:avLst/>
          </a:prstGeom>
          <a:noFill/>
        </p:spPr>
        <p:txBody>
          <a:bodyPr wrap="square" lIns="0" rIns="0" tIns="0" bIns="0" anchor="t">
            <a:noAutofit/>
          </a:bodyPr>
          <a:lstStyle/>
          <a:p>
            <a:pPr algn="r">
              <a:spcAft>
                <a:spcPts val="0"/>
              </a:spcAft>
            </a:pPr>
            <a:r>
              <a:rPr sz="1200" b="0">
                <a:solidFill>
                  <a:srgbClr val="535969"/>
                </a:solidFill>
                <a:latin typeface="Arial"/>
              </a:rPr>
              <a:t>5 / 7</a:t>
            </a:r>
          </a:p>
        </p:txBody>
      </p:sp>
      <p:sp>
        <p:nvSpPr>
          <p:cNvPr id="6" name="Rounded Rectangle 5"/>
          <p:cNvSpPr/>
          <p:nvPr/>
        </p:nvSpPr>
        <p:spPr>
          <a:xfrm>
            <a:off x="548640" y="1508760"/>
            <a:ext cx="5394960" cy="3154680"/>
          </a:xfrm>
          <a:prstGeom prst="roundRect">
            <a:avLst>
              <a:gd name="adj" fmla="val 5000"/>
            </a:avLst>
          </a:prstGeom>
          <a:solidFill>
            <a:srgbClr val="FFFFFF"/>
          </a:solidFill>
          <a:ln w="19050">
            <a:solidFill>
              <a:srgbClr val="D5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91640"/>
            <a:ext cx="4754880" cy="457200"/>
          </a:xfrm>
          <a:prstGeom prst="rect">
            <a:avLst/>
          </a:prstGeom>
          <a:noFill/>
        </p:spPr>
        <p:txBody>
          <a:bodyPr wrap="square" lIns="0" rIns="0" tIns="0" bIns="0" anchor="t">
            <a:noAutofit/>
          </a:bodyPr>
          <a:lstStyle/>
          <a:p>
            <a:pPr algn="l">
              <a:spcAft>
                <a:spcPts val="0"/>
              </a:spcAft>
            </a:pPr>
            <a:r>
              <a:rPr sz="2600" b="1">
                <a:solidFill>
                  <a:srgbClr val="202435"/>
                </a:solidFill>
                <a:latin typeface="Arial"/>
              </a:rPr>
              <a:t>Classical move</a:t>
            </a:r>
          </a:p>
        </p:txBody>
      </p:sp>
      <p:sp>
        <p:nvSpPr>
          <p:cNvPr id="8" name="TextBox 7"/>
          <p:cNvSpPr txBox="1"/>
          <p:nvPr/>
        </p:nvSpPr>
        <p:spPr>
          <a:xfrm>
            <a:off x="868680" y="2194560"/>
            <a:ext cx="4754880" cy="822960"/>
          </a:xfrm>
          <a:prstGeom prst="rect">
            <a:avLst/>
          </a:prstGeom>
          <a:noFill/>
        </p:spPr>
        <p:txBody>
          <a:bodyPr wrap="square" lIns="0" rIns="0" tIns="0" bIns="0" anchor="t">
            <a:noAutofit/>
          </a:bodyPr>
          <a:lstStyle/>
          <a:p>
            <a:pPr algn="l">
              <a:spcAft>
                <a:spcPts val="0"/>
              </a:spcAft>
            </a:pPr>
            <a:r>
              <a:rPr sz="2200" b="0">
                <a:solidFill>
                  <a:srgbClr val="202435"/>
                </a:solidFill>
                <a:latin typeface="Arial"/>
              </a:rPr>
              <a:t>Put one real X or O in a square that is completely empty.</a:t>
            </a:r>
          </a:p>
        </p:txBody>
      </p:sp>
      <p:sp>
        <p:nvSpPr>
          <p:cNvPr id="9" name="Rectangle 8"/>
          <p:cNvSpPr/>
          <p:nvPr/>
        </p:nvSpPr>
        <p:spPr>
          <a:xfrm>
            <a:off x="2606040" y="3200400"/>
            <a:ext cx="1280160" cy="128016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79192" y="3246120"/>
            <a:ext cx="365760" cy="274320"/>
          </a:xfrm>
          <a:prstGeom prst="rect">
            <a:avLst/>
          </a:prstGeom>
          <a:noFill/>
        </p:spPr>
        <p:txBody>
          <a:bodyPr wrap="square" lIns="0" rIns="0" tIns="0" bIns="0" anchor="t">
            <a:noAutofit/>
          </a:bodyPr>
          <a:lstStyle/>
          <a:p>
            <a:pPr algn="l">
              <a:spcAft>
                <a:spcPts val="0"/>
              </a:spcAft>
            </a:pPr>
            <a:r>
              <a:rPr sz="1300" b="1">
                <a:solidFill>
                  <a:srgbClr val="626575"/>
                </a:solidFill>
                <a:latin typeface="Arial"/>
              </a:rPr>
              <a:t>5</a:t>
            </a:r>
          </a:p>
        </p:txBody>
      </p:sp>
      <p:sp>
        <p:nvSpPr>
          <p:cNvPr id="11" name="TextBox 10"/>
          <p:cNvSpPr txBox="1"/>
          <p:nvPr/>
        </p:nvSpPr>
        <p:spPr>
          <a:xfrm>
            <a:off x="2606040" y="3200400"/>
            <a:ext cx="1280160" cy="1280160"/>
          </a:xfrm>
          <a:prstGeom prst="rect">
            <a:avLst/>
          </a:prstGeom>
          <a:noFill/>
        </p:spPr>
        <p:txBody>
          <a:bodyPr wrap="square" lIns="0" rIns="0" tIns="0" bIns="0" anchor="ctr">
            <a:noAutofit/>
          </a:bodyPr>
          <a:lstStyle/>
          <a:p>
            <a:pPr algn="ctr">
              <a:spcAft>
                <a:spcPts val="0"/>
              </a:spcAft>
            </a:pPr>
            <a:r>
              <a:rPr sz="7000" b="1">
                <a:solidFill>
                  <a:srgbClr val="B41524"/>
                </a:solidFill>
                <a:latin typeface="Arial"/>
              </a:rPr>
              <a:t>X</a:t>
            </a:r>
          </a:p>
        </p:txBody>
      </p:sp>
      <p:sp>
        <p:nvSpPr>
          <p:cNvPr id="12" name="Rounded Rectangle 11"/>
          <p:cNvSpPr/>
          <p:nvPr/>
        </p:nvSpPr>
        <p:spPr>
          <a:xfrm>
            <a:off x="6263640" y="1508760"/>
            <a:ext cx="5394960" cy="3154680"/>
          </a:xfrm>
          <a:prstGeom prst="roundRect">
            <a:avLst>
              <a:gd name="adj" fmla="val 5000"/>
            </a:avLst>
          </a:prstGeom>
          <a:solidFill>
            <a:srgbClr val="FFFFFF"/>
          </a:solidFill>
          <a:ln w="19050">
            <a:solidFill>
              <a:srgbClr val="D5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691640"/>
            <a:ext cx="4754880" cy="457200"/>
          </a:xfrm>
          <a:prstGeom prst="rect">
            <a:avLst/>
          </a:prstGeom>
          <a:noFill/>
        </p:spPr>
        <p:txBody>
          <a:bodyPr wrap="square" lIns="0" rIns="0" tIns="0" bIns="0" anchor="t">
            <a:noAutofit/>
          </a:bodyPr>
          <a:lstStyle/>
          <a:p>
            <a:pPr algn="l">
              <a:spcAft>
                <a:spcPts val="0"/>
              </a:spcAft>
            </a:pPr>
            <a:r>
              <a:rPr sz="2600" b="1">
                <a:solidFill>
                  <a:srgbClr val="202435"/>
                </a:solidFill>
                <a:latin typeface="Arial"/>
              </a:rPr>
              <a:t>Superposition move</a:t>
            </a:r>
          </a:p>
        </p:txBody>
      </p:sp>
      <p:sp>
        <p:nvSpPr>
          <p:cNvPr id="14" name="TextBox 13"/>
          <p:cNvSpPr txBox="1"/>
          <p:nvPr/>
        </p:nvSpPr>
        <p:spPr>
          <a:xfrm>
            <a:off x="6583680" y="2194560"/>
            <a:ext cx="4754880" cy="822960"/>
          </a:xfrm>
          <a:prstGeom prst="rect">
            <a:avLst/>
          </a:prstGeom>
          <a:noFill/>
        </p:spPr>
        <p:txBody>
          <a:bodyPr wrap="square" lIns="0" rIns="0" tIns="0" bIns="0" anchor="t">
            <a:noAutofit/>
          </a:bodyPr>
          <a:lstStyle/>
          <a:p>
            <a:pPr algn="l">
              <a:spcAft>
                <a:spcPts val="0"/>
              </a:spcAft>
            </a:pPr>
            <a:r>
              <a:rPr sz="2200" b="0">
                <a:solidFill>
                  <a:srgbClr val="202435"/>
                </a:solidFill>
                <a:latin typeface="Arial"/>
              </a:rPr>
              <a:t>Put a matching pair of spooky marks in two squares, A and B.</a:t>
            </a:r>
          </a:p>
        </p:txBody>
      </p:sp>
      <p:sp>
        <p:nvSpPr>
          <p:cNvPr id="15" name="Rectangle 14"/>
          <p:cNvSpPr/>
          <p:nvPr/>
        </p:nvSpPr>
        <p:spPr>
          <a:xfrm>
            <a:off x="7543800" y="3200400"/>
            <a:ext cx="1280160" cy="128016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16952" y="3246120"/>
            <a:ext cx="365760" cy="274320"/>
          </a:xfrm>
          <a:prstGeom prst="rect">
            <a:avLst/>
          </a:prstGeom>
          <a:noFill/>
        </p:spPr>
        <p:txBody>
          <a:bodyPr wrap="square" lIns="0" rIns="0" tIns="0" bIns="0" anchor="t">
            <a:noAutofit/>
          </a:bodyPr>
          <a:lstStyle/>
          <a:p>
            <a:pPr algn="l">
              <a:spcAft>
                <a:spcPts val="0"/>
              </a:spcAft>
            </a:pPr>
            <a:r>
              <a:rPr sz="1300" b="1">
                <a:solidFill>
                  <a:srgbClr val="626575"/>
                </a:solidFill>
                <a:latin typeface="Arial"/>
              </a:rPr>
              <a:t>3</a:t>
            </a:r>
          </a:p>
        </p:txBody>
      </p:sp>
      <p:sp>
        <p:nvSpPr>
          <p:cNvPr id="17" name="Rounded Rectangle 16"/>
          <p:cNvSpPr/>
          <p:nvPr/>
        </p:nvSpPr>
        <p:spPr>
          <a:xfrm>
            <a:off x="7799831" y="3584448"/>
            <a:ext cx="768096" cy="793699"/>
          </a:xfrm>
          <a:prstGeom prst="roundRect">
            <a:avLst>
              <a:gd name="adj" fmla="val 16000"/>
            </a:avLst>
          </a:prstGeom>
          <a:noFill/>
          <a:ln w="31750">
            <a:solidFill>
              <a:srgbClr val="086D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600" b="1">
                <a:solidFill>
                  <a:srgbClr val="086D75"/>
                </a:solidFill>
                <a:latin typeface="Arial"/>
              </a:rPr>
              <a:t>O</a:t>
            </a:r>
          </a:p>
          <a:p>
            <a:pPr algn="ctr"/>
            <a:r>
              <a:rPr sz="1300" b="1">
                <a:solidFill>
                  <a:srgbClr val="086D75"/>
                </a:solidFill>
                <a:latin typeface="Arial"/>
              </a:rPr>
              <a:t>2 · A</a:t>
            </a:r>
          </a:p>
        </p:txBody>
      </p:sp>
      <p:sp>
        <p:nvSpPr>
          <p:cNvPr id="18" name="Rectangle 17"/>
          <p:cNvSpPr/>
          <p:nvPr/>
        </p:nvSpPr>
        <p:spPr>
          <a:xfrm>
            <a:off x="9098280" y="3200400"/>
            <a:ext cx="1280160" cy="128016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71432" y="3246120"/>
            <a:ext cx="365760" cy="274320"/>
          </a:xfrm>
          <a:prstGeom prst="rect">
            <a:avLst/>
          </a:prstGeom>
          <a:noFill/>
        </p:spPr>
        <p:txBody>
          <a:bodyPr wrap="square" lIns="0" rIns="0" tIns="0" bIns="0" anchor="t">
            <a:noAutofit/>
          </a:bodyPr>
          <a:lstStyle/>
          <a:p>
            <a:pPr algn="l">
              <a:spcAft>
                <a:spcPts val="0"/>
              </a:spcAft>
            </a:pPr>
            <a:r>
              <a:rPr sz="1300" b="1">
                <a:solidFill>
                  <a:srgbClr val="626575"/>
                </a:solidFill>
                <a:latin typeface="Arial"/>
              </a:rPr>
              <a:t>7</a:t>
            </a:r>
          </a:p>
        </p:txBody>
      </p:sp>
      <p:sp>
        <p:nvSpPr>
          <p:cNvPr id="20" name="Rounded Rectangle 19"/>
          <p:cNvSpPr/>
          <p:nvPr/>
        </p:nvSpPr>
        <p:spPr>
          <a:xfrm>
            <a:off x="9354311" y="3584448"/>
            <a:ext cx="768096" cy="793699"/>
          </a:xfrm>
          <a:prstGeom prst="roundRect">
            <a:avLst>
              <a:gd name="adj" fmla="val 16000"/>
            </a:avLst>
          </a:prstGeom>
          <a:noFill/>
          <a:ln w="31750">
            <a:solidFill>
              <a:srgbClr val="086D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600" b="1">
                <a:solidFill>
                  <a:srgbClr val="086D75"/>
                </a:solidFill>
                <a:latin typeface="Arial"/>
              </a:rPr>
              <a:t>O</a:t>
            </a:r>
          </a:p>
          <a:p>
            <a:pPr algn="ctr"/>
            <a:r>
              <a:rPr sz="1300" b="1">
                <a:solidFill>
                  <a:srgbClr val="086D75"/>
                </a:solidFill>
                <a:latin typeface="Arial"/>
              </a:rPr>
              <a:t>2 · B</a:t>
            </a:r>
          </a:p>
        </p:txBody>
      </p:sp>
      <p:sp>
        <p:nvSpPr>
          <p:cNvPr id="21" name="Rectangle 20"/>
          <p:cNvSpPr/>
          <p:nvPr/>
        </p:nvSpPr>
        <p:spPr>
          <a:xfrm>
            <a:off x="548640" y="4846320"/>
            <a:ext cx="11109960" cy="13258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846320"/>
            <a:ext cx="82296" cy="1325880"/>
          </a:xfrm>
          <a:prstGeom prst="rect">
            <a:avLst/>
          </a:prstGeom>
          <a:solidFill>
            <a:srgbClr val="B41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983480"/>
            <a:ext cx="10515600" cy="1097280"/>
          </a:xfrm>
          <a:prstGeom prst="rect">
            <a:avLst/>
          </a:prstGeom>
          <a:noFill/>
        </p:spPr>
        <p:txBody>
          <a:bodyPr wrap="square" lIns="0" rIns="0" tIns="0" bIns="0" anchor="t">
            <a:noAutofit/>
          </a:bodyPr>
          <a:lstStyle/>
          <a:p>
            <a:pPr algn="l" marL="384048" indent="-384048">
              <a:spcAft>
                <a:spcPts val="400"/>
              </a:spcAft>
              <a:buClr>
                <a:srgbClr val="B41524"/>
              </a:buClr>
              <a:buFont typeface="Arial"/>
              <a:buChar char="•"/>
            </a:pPr>
            <a:r>
              <a:rPr sz="2000" b="0">
                <a:solidFill>
                  <a:srgbClr val="202435"/>
                </a:solidFill>
                <a:latin typeface="Arial"/>
              </a:rPr>
              <a:t>A square can hold up to two spooky marks.</a:t>
            </a:r>
          </a:p>
          <a:p>
            <a:pPr algn="l" marL="384048" indent="-384048">
              <a:spcAft>
                <a:spcPts val="400"/>
              </a:spcAft>
              <a:buClr>
                <a:srgbClr val="B41524"/>
              </a:buClr>
              <a:buFont typeface="Arial"/>
              <a:buChar char="•"/>
            </a:pPr>
            <a:r>
              <a:rPr sz="2000" b="0">
                <a:solidFill>
                  <a:srgbClr val="202435"/>
                </a:solidFill>
                <a:latin typeface="Arial"/>
              </a:rPr>
              <a:t>A real mark locks its square.</a:t>
            </a:r>
          </a:p>
          <a:p>
            <a:pPr algn="l" marL="384048" indent="-384048">
              <a:spcAft>
                <a:spcPts val="400"/>
              </a:spcAft>
              <a:buClr>
                <a:srgbClr val="B41524"/>
              </a:buClr>
              <a:buFont typeface="Arial"/>
              <a:buChar char="•"/>
            </a:pPr>
            <a:r>
              <a:rPr sz="2000" b="0">
                <a:solidFill>
                  <a:srgbClr val="202435"/>
                </a:solidFill>
                <a:latin typeface="Arial"/>
              </a:rPr>
              <a:t>Placing stops when every square has at least one mark.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lIns="0" rIns="0" tIns="0" bIns="0" anchor="b">
            <a:noAutofit/>
          </a:bodyPr>
          <a:lstStyle/>
          <a:p>
            <a:pPr algn="l">
              <a:spcAft>
                <a:spcPts val="0"/>
              </a:spcAft>
            </a:pPr>
            <a:r>
              <a:rPr sz="3400" b="1">
                <a:solidFill>
                  <a:srgbClr val="202435"/>
                </a:solidFill>
                <a:latin typeface="Arial"/>
              </a:rPr>
              <a:t>Measure your own pairs with a die</a:t>
            </a:r>
          </a:p>
        </p:txBody>
      </p:sp>
      <p:sp>
        <p:nvSpPr>
          <p:cNvPr id="3" name="Rectangle 2"/>
          <p:cNvSpPr/>
          <p:nvPr/>
        </p:nvSpPr>
        <p:spPr>
          <a:xfrm>
            <a:off x="548640" y="1243584"/>
            <a:ext cx="1097280" cy="64008"/>
          </a:xfrm>
          <a:prstGeom prst="rect">
            <a:avLst/>
          </a:prstGeom>
          <a:solidFill>
            <a:srgbClr val="B41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382512"/>
            <a:ext cx="7315200" cy="292608"/>
          </a:xfrm>
          <a:prstGeom prst="rect">
            <a:avLst/>
          </a:prstGeom>
          <a:noFill/>
        </p:spPr>
        <p:txBody>
          <a:bodyPr wrap="square" lIns="0" rIns="0" tIns="0" bIns="0" anchor="t">
            <a:noAutofit/>
          </a:bodyPr>
          <a:lstStyle/>
          <a:p>
            <a:pPr algn="l">
              <a:spcAft>
                <a:spcPts val="0"/>
              </a:spcAft>
            </a:pPr>
            <a:r>
              <a:rPr sz="1200" b="0">
                <a:solidFill>
                  <a:srgbClr val="535969"/>
                </a:solidFill>
                <a:latin typeface="Arial"/>
              </a:rPr>
              <a:t>GHOST GRID  ·  Superposition Tic-Tac-Toe</a:t>
            </a:r>
          </a:p>
        </p:txBody>
      </p:sp>
      <p:sp>
        <p:nvSpPr>
          <p:cNvPr id="5" name="TextBox 4"/>
          <p:cNvSpPr txBox="1"/>
          <p:nvPr/>
        </p:nvSpPr>
        <p:spPr>
          <a:xfrm>
            <a:off x="10241280" y="6382512"/>
            <a:ext cx="1417320" cy="292608"/>
          </a:xfrm>
          <a:prstGeom prst="rect">
            <a:avLst/>
          </a:prstGeom>
          <a:noFill/>
        </p:spPr>
        <p:txBody>
          <a:bodyPr wrap="square" lIns="0" rIns="0" tIns="0" bIns="0" anchor="t">
            <a:noAutofit/>
          </a:bodyPr>
          <a:lstStyle/>
          <a:p>
            <a:pPr algn="r">
              <a:spcAft>
                <a:spcPts val="0"/>
              </a:spcAft>
            </a:pPr>
            <a:r>
              <a:rPr sz="1200" b="0">
                <a:solidFill>
                  <a:srgbClr val="535969"/>
                </a:solidFill>
                <a:latin typeface="Arial"/>
              </a:rPr>
              <a:t>6 / 7</a:t>
            </a:r>
          </a:p>
        </p:txBody>
      </p:sp>
      <p:sp>
        <p:nvSpPr>
          <p:cNvPr id="6" name="TextBox 5"/>
          <p:cNvSpPr txBox="1"/>
          <p:nvPr/>
        </p:nvSpPr>
        <p:spPr>
          <a:xfrm>
            <a:off x="548640" y="1554480"/>
            <a:ext cx="6126480" cy="3383280"/>
          </a:xfrm>
          <a:prstGeom prst="rect">
            <a:avLst/>
          </a:prstGeom>
          <a:noFill/>
        </p:spPr>
        <p:txBody>
          <a:bodyPr wrap="square" lIns="0" rIns="0" tIns="0" bIns="0" anchor="t">
            <a:noAutofit/>
          </a:bodyPr>
          <a:lstStyle/>
          <a:p>
            <a:pPr algn="l" marL="384048" indent="-384048">
              <a:spcAft>
                <a:spcPts val="1000"/>
              </a:spcAft>
              <a:buClr>
                <a:srgbClr val="B41524"/>
              </a:buClr>
              <a:buFont typeface="Arial"/>
              <a:buAutoNum type="arabicPeriod"/>
            </a:pPr>
            <a:r>
              <a:rPr sz="2400" b="0">
                <a:solidFill>
                  <a:srgbClr val="202435"/>
                </a:solidFill>
                <a:latin typeface="Arial"/>
              </a:rPr>
              <a:t>Measure when every square has a mark.</a:t>
            </a:r>
          </a:p>
          <a:p>
            <a:pPr algn="l" marL="384048" indent="-384048">
              <a:spcAft>
                <a:spcPts val="1000"/>
              </a:spcAft>
              <a:buClr>
                <a:srgbClr val="B41524"/>
              </a:buClr>
              <a:buFont typeface="Arial"/>
              <a:buAutoNum type="arabicPeriod"/>
            </a:pPr>
            <a:r>
              <a:rPr sz="2400" b="0">
                <a:solidFill>
                  <a:srgbClr val="202435"/>
                </a:solidFill>
                <a:latin typeface="Arial"/>
              </a:rPr>
              <a:t>Take turns. Measure only your own pairs.</a:t>
            </a:r>
          </a:p>
          <a:p>
            <a:pPr algn="l" marL="384048" indent="-384048">
              <a:spcAft>
                <a:spcPts val="1000"/>
              </a:spcAft>
              <a:buClr>
                <a:srgbClr val="B41524"/>
              </a:buClr>
              <a:buFont typeface="Arial"/>
              <a:buAutoNum type="arabicPeriod"/>
            </a:pPr>
            <a:r>
              <a:rPr sz="2400" b="0">
                <a:solidFill>
                  <a:srgbClr val="202435"/>
                </a:solidFill>
                <a:latin typeface="Arial"/>
              </a:rPr>
              <a:t>Pick one of your pairs and roll the die.</a:t>
            </a:r>
          </a:p>
          <a:p>
            <a:pPr algn="l" marL="384048" indent="-384048">
              <a:spcAft>
                <a:spcPts val="1000"/>
              </a:spcAft>
              <a:buClr>
                <a:srgbClr val="B41524"/>
              </a:buClr>
              <a:buFont typeface="Arial"/>
              <a:buAutoNum type="arabicPeriod"/>
            </a:pPr>
            <a:r>
              <a:rPr sz="2400" b="0">
                <a:solidFill>
                  <a:srgbClr val="202435"/>
                </a:solidFill>
                <a:latin typeface="Arial"/>
              </a:rPr>
              <a:t>Odd keeps A. Even keeps B.</a:t>
            </a:r>
          </a:p>
          <a:p>
            <a:pPr algn="l" marL="384048" indent="-384048">
              <a:spcAft>
                <a:spcPts val="1000"/>
              </a:spcAft>
              <a:buClr>
                <a:srgbClr val="B41524"/>
              </a:buClr>
              <a:buFont typeface="Arial"/>
              <a:buAutoNum type="arabicPeriod"/>
            </a:pPr>
            <a:r>
              <a:rPr sz="2400" b="0">
                <a:solidFill>
                  <a:srgbClr val="202435"/>
                </a:solidFill>
                <a:latin typeface="Arial"/>
              </a:rPr>
              <a:t>The kept mark becomes real. The other mark disappears.</a:t>
            </a:r>
          </a:p>
        </p:txBody>
      </p:sp>
      <p:sp>
        <p:nvSpPr>
          <p:cNvPr id="7" name="TextBox 6"/>
          <p:cNvSpPr txBox="1"/>
          <p:nvPr/>
        </p:nvSpPr>
        <p:spPr>
          <a:xfrm>
            <a:off x="6903720" y="1847088"/>
            <a:ext cx="1005840" cy="384048"/>
          </a:xfrm>
          <a:prstGeom prst="rect">
            <a:avLst/>
          </a:prstGeom>
          <a:noFill/>
        </p:spPr>
        <p:txBody>
          <a:bodyPr wrap="square" lIns="0" rIns="0" tIns="0" bIns="0" anchor="t">
            <a:noAutofit/>
          </a:bodyPr>
          <a:lstStyle/>
          <a:p>
            <a:pPr algn="l">
              <a:spcAft>
                <a:spcPts val="0"/>
              </a:spcAft>
            </a:pPr>
            <a:r>
              <a:rPr sz="1800" b="1">
                <a:solidFill>
                  <a:srgbClr val="535969"/>
                </a:solidFill>
                <a:latin typeface="Arial"/>
              </a:rPr>
              <a:t>Before</a:t>
            </a:r>
          </a:p>
        </p:txBody>
      </p:sp>
      <p:sp>
        <p:nvSpPr>
          <p:cNvPr id="8" name="Rectangle 7"/>
          <p:cNvSpPr/>
          <p:nvPr/>
        </p:nvSpPr>
        <p:spPr>
          <a:xfrm>
            <a:off x="8001000" y="1508760"/>
            <a:ext cx="1143000" cy="114300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74152" y="1554480"/>
            <a:ext cx="365760" cy="274320"/>
          </a:xfrm>
          <a:prstGeom prst="rect">
            <a:avLst/>
          </a:prstGeom>
          <a:noFill/>
        </p:spPr>
        <p:txBody>
          <a:bodyPr wrap="square" lIns="0" rIns="0" tIns="0" bIns="0" anchor="t">
            <a:noAutofit/>
          </a:bodyPr>
          <a:lstStyle/>
          <a:p>
            <a:pPr algn="l">
              <a:spcAft>
                <a:spcPts val="0"/>
              </a:spcAft>
            </a:pPr>
            <a:r>
              <a:rPr sz="1300" b="1">
                <a:solidFill>
                  <a:srgbClr val="626575"/>
                </a:solidFill>
                <a:latin typeface="Arial"/>
              </a:rPr>
              <a:t>1</a:t>
            </a:r>
          </a:p>
        </p:txBody>
      </p:sp>
      <p:sp>
        <p:nvSpPr>
          <p:cNvPr id="10" name="Rounded Rectangle 9"/>
          <p:cNvSpPr/>
          <p:nvPr/>
        </p:nvSpPr>
        <p:spPr>
          <a:xfrm>
            <a:off x="8229600" y="1851660"/>
            <a:ext cx="685800" cy="708660"/>
          </a:xfrm>
          <a:prstGeom prst="roundRect">
            <a:avLst>
              <a:gd name="adj" fmla="val 16000"/>
            </a:avLst>
          </a:prstGeom>
          <a:noFill/>
          <a:ln w="31750">
            <a:solidFill>
              <a:srgbClr val="975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200" b="1">
                <a:solidFill>
                  <a:srgbClr val="975000"/>
                </a:solidFill>
                <a:latin typeface="Arial"/>
              </a:rPr>
              <a:t>X</a:t>
            </a:r>
          </a:p>
          <a:p>
            <a:pPr algn="ctr"/>
            <a:r>
              <a:rPr sz="1200" b="1">
                <a:solidFill>
                  <a:srgbClr val="975000"/>
                </a:solidFill>
                <a:latin typeface="Arial"/>
              </a:rPr>
              <a:t>1 · A</a:t>
            </a:r>
          </a:p>
        </p:txBody>
      </p:sp>
      <p:sp>
        <p:nvSpPr>
          <p:cNvPr id="11" name="Rectangle 10"/>
          <p:cNvSpPr/>
          <p:nvPr/>
        </p:nvSpPr>
        <p:spPr>
          <a:xfrm>
            <a:off x="9281160" y="1508760"/>
            <a:ext cx="1143000" cy="114300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54312" y="1554480"/>
            <a:ext cx="365760" cy="274320"/>
          </a:xfrm>
          <a:prstGeom prst="rect">
            <a:avLst/>
          </a:prstGeom>
          <a:noFill/>
        </p:spPr>
        <p:txBody>
          <a:bodyPr wrap="square" lIns="0" rIns="0" tIns="0" bIns="0" anchor="t">
            <a:noAutofit/>
          </a:bodyPr>
          <a:lstStyle/>
          <a:p>
            <a:pPr algn="l">
              <a:spcAft>
                <a:spcPts val="0"/>
              </a:spcAft>
            </a:pPr>
            <a:r>
              <a:rPr sz="1300" b="1">
                <a:solidFill>
                  <a:srgbClr val="626575"/>
                </a:solidFill>
                <a:latin typeface="Arial"/>
              </a:rPr>
              <a:t>5</a:t>
            </a:r>
          </a:p>
        </p:txBody>
      </p:sp>
      <p:sp>
        <p:nvSpPr>
          <p:cNvPr id="13" name="Rounded Rectangle 12"/>
          <p:cNvSpPr/>
          <p:nvPr/>
        </p:nvSpPr>
        <p:spPr>
          <a:xfrm>
            <a:off x="9509760" y="1851660"/>
            <a:ext cx="685800" cy="708660"/>
          </a:xfrm>
          <a:prstGeom prst="roundRect">
            <a:avLst>
              <a:gd name="adj" fmla="val 16000"/>
            </a:avLst>
          </a:prstGeom>
          <a:noFill/>
          <a:ln w="31750">
            <a:solidFill>
              <a:srgbClr val="975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200" b="1">
                <a:solidFill>
                  <a:srgbClr val="975000"/>
                </a:solidFill>
                <a:latin typeface="Arial"/>
              </a:rPr>
              <a:t>X</a:t>
            </a:r>
          </a:p>
          <a:p>
            <a:pPr algn="ctr"/>
            <a:r>
              <a:rPr sz="1200" b="1">
                <a:solidFill>
                  <a:srgbClr val="975000"/>
                </a:solidFill>
                <a:latin typeface="Arial"/>
              </a:rPr>
              <a:t>1 · B</a:t>
            </a:r>
          </a:p>
        </p:txBody>
      </p:sp>
      <p:sp>
        <p:nvSpPr>
          <p:cNvPr id="14" name="Rounded Rectangle 13"/>
          <p:cNvSpPr/>
          <p:nvPr/>
        </p:nvSpPr>
        <p:spPr>
          <a:xfrm>
            <a:off x="10771632" y="1627632"/>
            <a:ext cx="868680" cy="868680"/>
          </a:xfrm>
          <a:prstGeom prst="roundRect">
            <a:avLst>
              <a:gd name="adj" fmla="val 18000"/>
            </a:avLst>
          </a:prstGeom>
          <a:solidFill>
            <a:srgbClr val="FFFFFF"/>
          </a:solidFill>
          <a:ln w="38100">
            <a:solidFill>
              <a:srgbClr val="2024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941024" y="1797024"/>
            <a:ext cx="147675" cy="147675"/>
          </a:xfrm>
          <a:prstGeom prst="ellipse">
            <a:avLst/>
          </a:prstGeom>
          <a:solidFill>
            <a:srgbClr val="20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323243" y="1797024"/>
            <a:ext cx="147675" cy="147675"/>
          </a:xfrm>
          <a:prstGeom prst="ellipse">
            <a:avLst/>
          </a:prstGeom>
          <a:solidFill>
            <a:srgbClr val="20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941024" y="2179243"/>
            <a:ext cx="147675" cy="147675"/>
          </a:xfrm>
          <a:prstGeom prst="ellipse">
            <a:avLst/>
          </a:prstGeom>
          <a:solidFill>
            <a:srgbClr val="20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323243" y="2179243"/>
            <a:ext cx="147675" cy="147675"/>
          </a:xfrm>
          <a:prstGeom prst="ellipse">
            <a:avLst/>
          </a:prstGeom>
          <a:solidFill>
            <a:srgbClr val="20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61320" y="2560320"/>
            <a:ext cx="1280160" cy="320040"/>
          </a:xfrm>
          <a:prstGeom prst="rect">
            <a:avLst/>
          </a:prstGeom>
          <a:noFill/>
        </p:spPr>
        <p:txBody>
          <a:bodyPr wrap="square" lIns="0" rIns="0" tIns="0" bIns="0" anchor="t">
            <a:noAutofit/>
          </a:bodyPr>
          <a:lstStyle/>
          <a:p>
            <a:pPr algn="ctr">
              <a:spcAft>
                <a:spcPts val="0"/>
              </a:spcAft>
            </a:pPr>
            <a:r>
              <a:rPr sz="1600" b="1">
                <a:solidFill>
                  <a:srgbClr val="202435"/>
                </a:solidFill>
                <a:latin typeface="Arial"/>
              </a:rPr>
              <a:t>Roll: 4</a:t>
            </a:r>
          </a:p>
        </p:txBody>
      </p:sp>
      <p:sp>
        <p:nvSpPr>
          <p:cNvPr id="20" name="Down Arrow 19"/>
          <p:cNvSpPr/>
          <p:nvPr/>
        </p:nvSpPr>
        <p:spPr>
          <a:xfrm>
            <a:off x="8988552" y="2743200"/>
            <a:ext cx="457200" cy="502920"/>
          </a:xfrm>
          <a:prstGeom prst="downArrow">
            <a:avLst/>
          </a:prstGeom>
          <a:solidFill>
            <a:srgbClr val="C9C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03720" y="3749039"/>
            <a:ext cx="1005840" cy="384048"/>
          </a:xfrm>
          <a:prstGeom prst="rect">
            <a:avLst/>
          </a:prstGeom>
          <a:noFill/>
        </p:spPr>
        <p:txBody>
          <a:bodyPr wrap="square" lIns="0" rIns="0" tIns="0" bIns="0" anchor="t">
            <a:noAutofit/>
          </a:bodyPr>
          <a:lstStyle/>
          <a:p>
            <a:pPr algn="l">
              <a:spcAft>
                <a:spcPts val="0"/>
              </a:spcAft>
            </a:pPr>
            <a:r>
              <a:rPr sz="1800" b="1">
                <a:solidFill>
                  <a:srgbClr val="535969"/>
                </a:solidFill>
                <a:latin typeface="Arial"/>
              </a:rPr>
              <a:t>After</a:t>
            </a:r>
          </a:p>
        </p:txBody>
      </p:sp>
      <p:sp>
        <p:nvSpPr>
          <p:cNvPr id="22" name="Rectangle 21"/>
          <p:cNvSpPr/>
          <p:nvPr/>
        </p:nvSpPr>
        <p:spPr>
          <a:xfrm>
            <a:off x="8001000" y="3337560"/>
            <a:ext cx="1143000" cy="114300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74152" y="3383279"/>
            <a:ext cx="365760" cy="274320"/>
          </a:xfrm>
          <a:prstGeom prst="rect">
            <a:avLst/>
          </a:prstGeom>
          <a:noFill/>
        </p:spPr>
        <p:txBody>
          <a:bodyPr wrap="square" lIns="0" rIns="0" tIns="0" bIns="0" anchor="t">
            <a:noAutofit/>
          </a:bodyPr>
          <a:lstStyle/>
          <a:p>
            <a:pPr algn="l">
              <a:spcAft>
                <a:spcPts val="0"/>
              </a:spcAft>
            </a:pPr>
            <a:r>
              <a:rPr sz="1300" b="1">
                <a:solidFill>
                  <a:srgbClr val="626575"/>
                </a:solidFill>
                <a:latin typeface="Arial"/>
              </a:rPr>
              <a:t>1</a:t>
            </a:r>
          </a:p>
        </p:txBody>
      </p:sp>
      <p:sp>
        <p:nvSpPr>
          <p:cNvPr id="24" name="Rectangle 23"/>
          <p:cNvSpPr/>
          <p:nvPr/>
        </p:nvSpPr>
        <p:spPr>
          <a:xfrm>
            <a:off x="9281160" y="3337560"/>
            <a:ext cx="1143000" cy="114300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54312" y="3383279"/>
            <a:ext cx="365760" cy="274320"/>
          </a:xfrm>
          <a:prstGeom prst="rect">
            <a:avLst/>
          </a:prstGeom>
          <a:noFill/>
        </p:spPr>
        <p:txBody>
          <a:bodyPr wrap="square" lIns="0" rIns="0" tIns="0" bIns="0" anchor="t">
            <a:noAutofit/>
          </a:bodyPr>
          <a:lstStyle/>
          <a:p>
            <a:pPr algn="l">
              <a:spcAft>
                <a:spcPts val="0"/>
              </a:spcAft>
            </a:pPr>
            <a:r>
              <a:rPr sz="1300" b="1">
                <a:solidFill>
                  <a:srgbClr val="626575"/>
                </a:solidFill>
                <a:latin typeface="Arial"/>
              </a:rPr>
              <a:t>5</a:t>
            </a:r>
          </a:p>
        </p:txBody>
      </p:sp>
      <p:sp>
        <p:nvSpPr>
          <p:cNvPr id="26" name="TextBox 25"/>
          <p:cNvSpPr txBox="1"/>
          <p:nvPr/>
        </p:nvSpPr>
        <p:spPr>
          <a:xfrm>
            <a:off x="9281160" y="3337560"/>
            <a:ext cx="1143000" cy="1143000"/>
          </a:xfrm>
          <a:prstGeom prst="rect">
            <a:avLst/>
          </a:prstGeom>
          <a:noFill/>
        </p:spPr>
        <p:txBody>
          <a:bodyPr wrap="square" lIns="0" rIns="0" tIns="0" bIns="0" anchor="ctr">
            <a:noAutofit/>
          </a:bodyPr>
          <a:lstStyle/>
          <a:p>
            <a:pPr algn="ctr">
              <a:spcAft>
                <a:spcPts val="0"/>
              </a:spcAft>
            </a:pPr>
            <a:r>
              <a:rPr sz="6200" b="1">
                <a:solidFill>
                  <a:srgbClr val="B41524"/>
                </a:solidFill>
                <a:latin typeface="Arial"/>
              </a:rPr>
              <a:t>X</a:t>
            </a:r>
          </a:p>
        </p:txBody>
      </p:sp>
      <p:sp>
        <p:nvSpPr>
          <p:cNvPr id="27" name="TextBox 26"/>
          <p:cNvSpPr txBox="1"/>
          <p:nvPr/>
        </p:nvSpPr>
        <p:spPr>
          <a:xfrm>
            <a:off x="7498079" y="4544568"/>
            <a:ext cx="4114800" cy="365760"/>
          </a:xfrm>
          <a:prstGeom prst="rect">
            <a:avLst/>
          </a:prstGeom>
          <a:noFill/>
        </p:spPr>
        <p:txBody>
          <a:bodyPr wrap="square" lIns="0" rIns="0" tIns="0" bIns="0" anchor="t">
            <a:noAutofit/>
          </a:bodyPr>
          <a:lstStyle/>
          <a:p>
            <a:pPr algn="ctr">
              <a:spcAft>
                <a:spcPts val="0"/>
              </a:spcAft>
            </a:pPr>
            <a:r>
              <a:rPr sz="1600" b="0">
                <a:solidFill>
                  <a:srgbClr val="535969"/>
                </a:solidFill>
                <a:latin typeface="Arial"/>
              </a:rPr>
              <a:t>4 is even, so B stays in square 5.</a:t>
            </a:r>
          </a:p>
        </p:txBody>
      </p:sp>
      <p:sp>
        <p:nvSpPr>
          <p:cNvPr id="28" name="Rectangle 27"/>
          <p:cNvSpPr/>
          <p:nvPr/>
        </p:nvSpPr>
        <p:spPr>
          <a:xfrm>
            <a:off x="548640" y="5029200"/>
            <a:ext cx="11109960" cy="118872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029200"/>
            <a:ext cx="82296" cy="1188720"/>
          </a:xfrm>
          <a:prstGeom prst="rect">
            <a:avLst/>
          </a:prstGeom>
          <a:solidFill>
            <a:srgbClr val="B41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148072"/>
            <a:ext cx="10515600" cy="960120"/>
          </a:xfrm>
          <a:prstGeom prst="rect">
            <a:avLst/>
          </a:prstGeom>
          <a:noFill/>
        </p:spPr>
        <p:txBody>
          <a:bodyPr wrap="square" lIns="0" rIns="0" tIns="0" bIns="0" anchor="t">
            <a:noAutofit/>
          </a:bodyPr>
          <a:lstStyle/>
          <a:p>
            <a:pPr algn="l">
              <a:spcAft>
                <a:spcPts val="0"/>
              </a:spcAft>
            </a:pPr>
            <a:r>
              <a:rPr sz="2000" b="1">
                <a:solidFill>
                  <a:srgbClr val="202435"/>
                </a:solidFill>
                <a:latin typeface="Arial"/>
              </a:rPr>
              <a:t>Shared squares: </a:t>
            </a:r>
            <a:r>
              <a:rPr sz="2000" b="0">
                <a:solidFill>
                  <a:srgbClr val="202435"/>
                </a:solidFill>
                <a:latin typeface="Arial"/>
              </a:rPr>
              <a:t>two pairs cannot both stay in one square. If a kept mark lands there, the other pair becomes real in its other square.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lIns="0" rIns="0" tIns="0" bIns="0" anchor="b">
            <a:noAutofit/>
          </a:bodyPr>
          <a:lstStyle/>
          <a:p>
            <a:pPr algn="l">
              <a:spcAft>
                <a:spcPts val="0"/>
              </a:spcAft>
            </a:pPr>
            <a:r>
              <a:rPr sz="3400" b="1">
                <a:solidFill>
                  <a:srgbClr val="202435"/>
                </a:solidFill>
                <a:latin typeface="Arial"/>
              </a:rPr>
              <a:t>Win after all pairs are measured</a:t>
            </a:r>
          </a:p>
        </p:txBody>
      </p:sp>
      <p:sp>
        <p:nvSpPr>
          <p:cNvPr id="3" name="Rectangle 2"/>
          <p:cNvSpPr/>
          <p:nvPr/>
        </p:nvSpPr>
        <p:spPr>
          <a:xfrm>
            <a:off x="548640" y="1243584"/>
            <a:ext cx="1097280" cy="64008"/>
          </a:xfrm>
          <a:prstGeom prst="rect">
            <a:avLst/>
          </a:prstGeom>
          <a:solidFill>
            <a:srgbClr val="B41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382512"/>
            <a:ext cx="7315200" cy="292608"/>
          </a:xfrm>
          <a:prstGeom prst="rect">
            <a:avLst/>
          </a:prstGeom>
          <a:noFill/>
        </p:spPr>
        <p:txBody>
          <a:bodyPr wrap="square" lIns="0" rIns="0" tIns="0" bIns="0" anchor="t">
            <a:noAutofit/>
          </a:bodyPr>
          <a:lstStyle/>
          <a:p>
            <a:pPr algn="l">
              <a:spcAft>
                <a:spcPts val="0"/>
              </a:spcAft>
            </a:pPr>
            <a:r>
              <a:rPr sz="1200" b="0">
                <a:solidFill>
                  <a:srgbClr val="535969"/>
                </a:solidFill>
                <a:latin typeface="Arial"/>
              </a:rPr>
              <a:t>GHOST GRID  ·  Superposition Tic-Tac-Toe</a:t>
            </a:r>
          </a:p>
        </p:txBody>
      </p:sp>
      <p:sp>
        <p:nvSpPr>
          <p:cNvPr id="5" name="TextBox 4"/>
          <p:cNvSpPr txBox="1"/>
          <p:nvPr/>
        </p:nvSpPr>
        <p:spPr>
          <a:xfrm>
            <a:off x="10241280" y="6382512"/>
            <a:ext cx="1417320" cy="292608"/>
          </a:xfrm>
          <a:prstGeom prst="rect">
            <a:avLst/>
          </a:prstGeom>
          <a:noFill/>
        </p:spPr>
        <p:txBody>
          <a:bodyPr wrap="square" lIns="0" rIns="0" tIns="0" bIns="0" anchor="t">
            <a:noAutofit/>
          </a:bodyPr>
          <a:lstStyle/>
          <a:p>
            <a:pPr algn="r">
              <a:spcAft>
                <a:spcPts val="0"/>
              </a:spcAft>
            </a:pPr>
            <a:r>
              <a:rPr sz="1200" b="0">
                <a:solidFill>
                  <a:srgbClr val="535969"/>
                </a:solidFill>
                <a:latin typeface="Arial"/>
              </a:rPr>
              <a:t>7 / 7</a:t>
            </a:r>
          </a:p>
        </p:txBody>
      </p:sp>
      <p:sp>
        <p:nvSpPr>
          <p:cNvPr id="6" name="TextBox 5"/>
          <p:cNvSpPr txBox="1"/>
          <p:nvPr/>
        </p:nvSpPr>
        <p:spPr>
          <a:xfrm>
            <a:off x="548640" y="1554480"/>
            <a:ext cx="6766560" cy="3108960"/>
          </a:xfrm>
          <a:prstGeom prst="rect">
            <a:avLst/>
          </a:prstGeom>
          <a:noFill/>
        </p:spPr>
        <p:txBody>
          <a:bodyPr wrap="square" lIns="0" rIns="0" tIns="0" bIns="0" anchor="t">
            <a:noAutofit/>
          </a:bodyPr>
          <a:lstStyle/>
          <a:p>
            <a:pPr algn="l" marL="384048" indent="-384048">
              <a:spcAft>
                <a:spcPts val="1000"/>
              </a:spcAft>
              <a:buClr>
                <a:srgbClr val="B41524"/>
              </a:buClr>
              <a:buFont typeface="Arial"/>
              <a:buChar char="•"/>
            </a:pPr>
            <a:r>
              <a:rPr sz="2400" b="0">
                <a:solidFill>
                  <a:srgbClr val="202435"/>
                </a:solidFill>
                <a:latin typeface="Arial"/>
              </a:rPr>
              <a:t>Three real marks in a row wins.</a:t>
            </a:r>
          </a:p>
          <a:p>
            <a:pPr algn="l" marL="384048" indent="-384048">
              <a:spcAft>
                <a:spcPts val="1000"/>
              </a:spcAft>
              <a:buClr>
                <a:srgbClr val="B41524"/>
              </a:buClr>
              <a:buFont typeface="Arial"/>
              <a:buChar char="•"/>
            </a:pPr>
            <a:r>
              <a:rPr sz="2400" b="0">
                <a:solidFill>
                  <a:srgbClr val="202435"/>
                </a:solidFill>
                <a:latin typeface="Arial"/>
              </a:rPr>
              <a:t>Spooky marks do not count.</a:t>
            </a:r>
          </a:p>
          <a:p>
            <a:pPr algn="l" marL="384048" indent="-384048">
              <a:spcAft>
                <a:spcPts val="1000"/>
              </a:spcAft>
              <a:buClr>
                <a:srgbClr val="B41524"/>
              </a:buClr>
              <a:buFont typeface="Arial"/>
              <a:buChar char="•"/>
            </a:pPr>
            <a:r>
              <a:rPr sz="2400" b="0">
                <a:solidFill>
                  <a:srgbClr val="202435"/>
                </a:solidFill>
                <a:latin typeface="Arial"/>
              </a:rPr>
              <a:t>A row for both players is a draw.</a:t>
            </a:r>
          </a:p>
          <a:p>
            <a:pPr algn="l" marL="384048" indent="-384048">
              <a:spcAft>
                <a:spcPts val="1000"/>
              </a:spcAft>
              <a:buClr>
                <a:srgbClr val="B41524"/>
              </a:buClr>
              <a:buFont typeface="Arial"/>
              <a:buChar char="•"/>
            </a:pPr>
            <a:r>
              <a:rPr sz="2400" b="0">
                <a:solidFill>
                  <a:srgbClr val="202435"/>
                </a:solidFill>
                <a:latin typeface="Arial"/>
              </a:rPr>
              <a:t>A full board with no row is a draw.</a:t>
            </a:r>
          </a:p>
          <a:p>
            <a:pPr algn="l" marL="384048" indent="-384048">
              <a:spcAft>
                <a:spcPts val="1000"/>
              </a:spcAft>
              <a:buClr>
                <a:srgbClr val="B41524"/>
              </a:buClr>
              <a:buFont typeface="Arial"/>
              <a:buChar char="•"/>
            </a:pPr>
            <a:r>
              <a:rPr sz="2400" b="0">
                <a:solidFill>
                  <a:srgbClr val="202435"/>
                </a:solidFill>
                <a:latin typeface="Arial"/>
              </a:rPr>
              <a:t>Otherwise, place and measure again.</a:t>
            </a:r>
          </a:p>
        </p:txBody>
      </p:sp>
      <p:sp>
        <p:nvSpPr>
          <p:cNvPr id="7" name="Rectangle 6"/>
          <p:cNvSpPr/>
          <p:nvPr/>
        </p:nvSpPr>
        <p:spPr>
          <a:xfrm>
            <a:off x="8366760" y="1371600"/>
            <a:ext cx="868680" cy="86868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9912" y="1417320"/>
            <a:ext cx="365760" cy="274320"/>
          </a:xfrm>
          <a:prstGeom prst="rect">
            <a:avLst/>
          </a:prstGeom>
          <a:noFill/>
        </p:spPr>
        <p:txBody>
          <a:bodyPr wrap="square" lIns="0" rIns="0" tIns="0" bIns="0" anchor="t">
            <a:noAutofit/>
          </a:bodyPr>
          <a:lstStyle/>
          <a:p>
            <a:pPr algn="l">
              <a:spcAft>
                <a:spcPts val="0"/>
              </a:spcAft>
            </a:pPr>
            <a:r>
              <a:rPr sz="1100" b="1">
                <a:solidFill>
                  <a:srgbClr val="626575"/>
                </a:solidFill>
                <a:latin typeface="Arial"/>
              </a:rPr>
              <a:t>1</a:t>
            </a:r>
          </a:p>
        </p:txBody>
      </p:sp>
      <p:sp>
        <p:nvSpPr>
          <p:cNvPr id="9" name="Rectangle 8"/>
          <p:cNvSpPr/>
          <p:nvPr/>
        </p:nvSpPr>
        <p:spPr>
          <a:xfrm>
            <a:off x="9235440" y="1371600"/>
            <a:ext cx="868680" cy="86868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08592" y="1417320"/>
            <a:ext cx="365760" cy="274320"/>
          </a:xfrm>
          <a:prstGeom prst="rect">
            <a:avLst/>
          </a:prstGeom>
          <a:noFill/>
        </p:spPr>
        <p:txBody>
          <a:bodyPr wrap="square" lIns="0" rIns="0" tIns="0" bIns="0" anchor="t">
            <a:noAutofit/>
          </a:bodyPr>
          <a:lstStyle/>
          <a:p>
            <a:pPr algn="l">
              <a:spcAft>
                <a:spcPts val="0"/>
              </a:spcAft>
            </a:pPr>
            <a:r>
              <a:rPr sz="1100" b="1">
                <a:solidFill>
                  <a:srgbClr val="626575"/>
                </a:solidFill>
                <a:latin typeface="Arial"/>
              </a:rPr>
              <a:t>2</a:t>
            </a:r>
          </a:p>
        </p:txBody>
      </p:sp>
      <p:sp>
        <p:nvSpPr>
          <p:cNvPr id="11" name="Rectangle 10"/>
          <p:cNvSpPr/>
          <p:nvPr/>
        </p:nvSpPr>
        <p:spPr>
          <a:xfrm>
            <a:off x="10104120" y="1371600"/>
            <a:ext cx="868680" cy="86868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77272" y="1417320"/>
            <a:ext cx="365760" cy="274320"/>
          </a:xfrm>
          <a:prstGeom prst="rect">
            <a:avLst/>
          </a:prstGeom>
          <a:noFill/>
        </p:spPr>
        <p:txBody>
          <a:bodyPr wrap="square" lIns="0" rIns="0" tIns="0" bIns="0" anchor="t">
            <a:noAutofit/>
          </a:bodyPr>
          <a:lstStyle/>
          <a:p>
            <a:pPr algn="l">
              <a:spcAft>
                <a:spcPts val="0"/>
              </a:spcAft>
            </a:pPr>
            <a:r>
              <a:rPr sz="1100" b="1">
                <a:solidFill>
                  <a:srgbClr val="626575"/>
                </a:solidFill>
                <a:latin typeface="Arial"/>
              </a:rPr>
              <a:t>3</a:t>
            </a:r>
          </a:p>
        </p:txBody>
      </p:sp>
      <p:sp>
        <p:nvSpPr>
          <p:cNvPr id="13" name="Rectangle 12"/>
          <p:cNvSpPr/>
          <p:nvPr/>
        </p:nvSpPr>
        <p:spPr>
          <a:xfrm>
            <a:off x="8366760" y="2240280"/>
            <a:ext cx="868680" cy="86868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9912" y="2286000"/>
            <a:ext cx="365760" cy="274320"/>
          </a:xfrm>
          <a:prstGeom prst="rect">
            <a:avLst/>
          </a:prstGeom>
          <a:noFill/>
        </p:spPr>
        <p:txBody>
          <a:bodyPr wrap="square" lIns="0" rIns="0" tIns="0" bIns="0" anchor="t">
            <a:noAutofit/>
          </a:bodyPr>
          <a:lstStyle/>
          <a:p>
            <a:pPr algn="l">
              <a:spcAft>
                <a:spcPts val="0"/>
              </a:spcAft>
            </a:pPr>
            <a:r>
              <a:rPr sz="1100" b="1">
                <a:solidFill>
                  <a:srgbClr val="626575"/>
                </a:solidFill>
                <a:latin typeface="Arial"/>
              </a:rPr>
              <a:t>4</a:t>
            </a:r>
          </a:p>
        </p:txBody>
      </p:sp>
      <p:sp>
        <p:nvSpPr>
          <p:cNvPr id="15" name="Rectangle 14"/>
          <p:cNvSpPr/>
          <p:nvPr/>
        </p:nvSpPr>
        <p:spPr>
          <a:xfrm>
            <a:off x="9235440" y="2240280"/>
            <a:ext cx="868680" cy="86868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08592" y="2286000"/>
            <a:ext cx="365760" cy="274320"/>
          </a:xfrm>
          <a:prstGeom prst="rect">
            <a:avLst/>
          </a:prstGeom>
          <a:noFill/>
        </p:spPr>
        <p:txBody>
          <a:bodyPr wrap="square" lIns="0" rIns="0" tIns="0" bIns="0" anchor="t">
            <a:noAutofit/>
          </a:bodyPr>
          <a:lstStyle/>
          <a:p>
            <a:pPr algn="l">
              <a:spcAft>
                <a:spcPts val="0"/>
              </a:spcAft>
            </a:pPr>
            <a:r>
              <a:rPr sz="1100" b="1">
                <a:solidFill>
                  <a:srgbClr val="626575"/>
                </a:solidFill>
                <a:latin typeface="Arial"/>
              </a:rPr>
              <a:t>5</a:t>
            </a:r>
          </a:p>
        </p:txBody>
      </p:sp>
      <p:sp>
        <p:nvSpPr>
          <p:cNvPr id="17" name="Rectangle 16"/>
          <p:cNvSpPr/>
          <p:nvPr/>
        </p:nvSpPr>
        <p:spPr>
          <a:xfrm>
            <a:off x="10104120" y="2240280"/>
            <a:ext cx="868680" cy="86868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77272" y="2286000"/>
            <a:ext cx="365760" cy="274320"/>
          </a:xfrm>
          <a:prstGeom prst="rect">
            <a:avLst/>
          </a:prstGeom>
          <a:noFill/>
        </p:spPr>
        <p:txBody>
          <a:bodyPr wrap="square" lIns="0" rIns="0" tIns="0" bIns="0" anchor="t">
            <a:noAutofit/>
          </a:bodyPr>
          <a:lstStyle/>
          <a:p>
            <a:pPr algn="l">
              <a:spcAft>
                <a:spcPts val="0"/>
              </a:spcAft>
            </a:pPr>
            <a:r>
              <a:rPr sz="1100" b="1">
                <a:solidFill>
                  <a:srgbClr val="626575"/>
                </a:solidFill>
                <a:latin typeface="Arial"/>
              </a:rPr>
              <a:t>6</a:t>
            </a:r>
          </a:p>
        </p:txBody>
      </p:sp>
      <p:sp>
        <p:nvSpPr>
          <p:cNvPr id="19" name="Rectangle 18"/>
          <p:cNvSpPr/>
          <p:nvPr/>
        </p:nvSpPr>
        <p:spPr>
          <a:xfrm>
            <a:off x="8366760" y="3108960"/>
            <a:ext cx="868680" cy="86868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39912" y="3154679"/>
            <a:ext cx="365760" cy="274320"/>
          </a:xfrm>
          <a:prstGeom prst="rect">
            <a:avLst/>
          </a:prstGeom>
          <a:noFill/>
        </p:spPr>
        <p:txBody>
          <a:bodyPr wrap="square" lIns="0" rIns="0" tIns="0" bIns="0" anchor="t">
            <a:noAutofit/>
          </a:bodyPr>
          <a:lstStyle/>
          <a:p>
            <a:pPr algn="l">
              <a:spcAft>
                <a:spcPts val="0"/>
              </a:spcAft>
            </a:pPr>
            <a:r>
              <a:rPr sz="1100" b="1">
                <a:solidFill>
                  <a:srgbClr val="626575"/>
                </a:solidFill>
                <a:latin typeface="Arial"/>
              </a:rPr>
              <a:t>7</a:t>
            </a:r>
          </a:p>
        </p:txBody>
      </p:sp>
      <p:sp>
        <p:nvSpPr>
          <p:cNvPr id="21" name="Rectangle 20"/>
          <p:cNvSpPr/>
          <p:nvPr/>
        </p:nvSpPr>
        <p:spPr>
          <a:xfrm>
            <a:off x="9235440" y="3108960"/>
            <a:ext cx="868680" cy="86868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08592" y="3154679"/>
            <a:ext cx="365760" cy="274320"/>
          </a:xfrm>
          <a:prstGeom prst="rect">
            <a:avLst/>
          </a:prstGeom>
          <a:noFill/>
        </p:spPr>
        <p:txBody>
          <a:bodyPr wrap="square" lIns="0" rIns="0" tIns="0" bIns="0" anchor="t">
            <a:noAutofit/>
          </a:bodyPr>
          <a:lstStyle/>
          <a:p>
            <a:pPr algn="l">
              <a:spcAft>
                <a:spcPts val="0"/>
              </a:spcAft>
            </a:pPr>
            <a:r>
              <a:rPr sz="1100" b="1">
                <a:solidFill>
                  <a:srgbClr val="626575"/>
                </a:solidFill>
                <a:latin typeface="Arial"/>
              </a:rPr>
              <a:t>8</a:t>
            </a:r>
          </a:p>
        </p:txBody>
      </p:sp>
      <p:sp>
        <p:nvSpPr>
          <p:cNvPr id="23" name="Rectangle 22"/>
          <p:cNvSpPr/>
          <p:nvPr/>
        </p:nvSpPr>
        <p:spPr>
          <a:xfrm>
            <a:off x="10104120" y="3108960"/>
            <a:ext cx="868680" cy="868680"/>
          </a:xfrm>
          <a:prstGeom prst="rect">
            <a:avLst/>
          </a:prstGeom>
          <a:solidFill>
            <a:srgbClr val="FFFFFF"/>
          </a:solidFill>
          <a:ln w="38100">
            <a:solidFill>
              <a:srgbClr val="BA1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77272" y="3154679"/>
            <a:ext cx="365760" cy="274320"/>
          </a:xfrm>
          <a:prstGeom prst="rect">
            <a:avLst/>
          </a:prstGeom>
          <a:noFill/>
        </p:spPr>
        <p:txBody>
          <a:bodyPr wrap="square" lIns="0" rIns="0" tIns="0" bIns="0" anchor="t">
            <a:noAutofit/>
          </a:bodyPr>
          <a:lstStyle/>
          <a:p>
            <a:pPr algn="l">
              <a:spcAft>
                <a:spcPts val="0"/>
              </a:spcAft>
            </a:pPr>
            <a:r>
              <a:rPr sz="1100" b="1">
                <a:solidFill>
                  <a:srgbClr val="626575"/>
                </a:solidFill>
                <a:latin typeface="Arial"/>
              </a:rPr>
              <a:t>9</a:t>
            </a:r>
          </a:p>
        </p:txBody>
      </p:sp>
      <p:sp>
        <p:nvSpPr>
          <p:cNvPr id="25" name="Rounded Rectangle 24"/>
          <p:cNvSpPr/>
          <p:nvPr/>
        </p:nvSpPr>
        <p:spPr>
          <a:xfrm>
            <a:off x="8540496" y="1632204"/>
            <a:ext cx="521207" cy="538581"/>
          </a:xfrm>
          <a:prstGeom prst="roundRect">
            <a:avLst>
              <a:gd name="adj" fmla="val 16000"/>
            </a:avLst>
          </a:prstGeom>
          <a:noFill/>
          <a:ln w="31750">
            <a:solidFill>
              <a:srgbClr val="975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500" b="1">
                <a:solidFill>
                  <a:srgbClr val="975000"/>
                </a:solidFill>
                <a:latin typeface="Arial"/>
              </a:rPr>
              <a:t>X</a:t>
            </a:r>
          </a:p>
          <a:p>
            <a:pPr algn="ctr"/>
            <a:r>
              <a:rPr sz="900" b="1">
                <a:solidFill>
                  <a:srgbClr val="975000"/>
                </a:solidFill>
                <a:latin typeface="Arial"/>
              </a:rPr>
              <a:t>1 · A</a:t>
            </a:r>
          </a:p>
        </p:txBody>
      </p:sp>
      <p:sp>
        <p:nvSpPr>
          <p:cNvPr id="26" name="Rounded Rectangle 25"/>
          <p:cNvSpPr/>
          <p:nvPr/>
        </p:nvSpPr>
        <p:spPr>
          <a:xfrm>
            <a:off x="9409176" y="1632204"/>
            <a:ext cx="521207" cy="538581"/>
          </a:xfrm>
          <a:prstGeom prst="roundRect">
            <a:avLst>
              <a:gd name="adj" fmla="val 16000"/>
            </a:avLst>
          </a:prstGeom>
          <a:noFill/>
          <a:ln w="31750">
            <a:solidFill>
              <a:srgbClr val="673BB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500" b="1">
                <a:solidFill>
                  <a:srgbClr val="673BB7"/>
                </a:solidFill>
                <a:latin typeface="Arial"/>
              </a:rPr>
              <a:t>X</a:t>
            </a:r>
          </a:p>
          <a:p>
            <a:pPr algn="ctr"/>
            <a:r>
              <a:rPr sz="900" b="1">
                <a:solidFill>
                  <a:srgbClr val="673BB7"/>
                </a:solidFill>
                <a:latin typeface="Arial"/>
              </a:rPr>
              <a:t>3 · B</a:t>
            </a:r>
          </a:p>
        </p:txBody>
      </p:sp>
      <p:sp>
        <p:nvSpPr>
          <p:cNvPr id="27" name="Rounded Rectangle 26"/>
          <p:cNvSpPr/>
          <p:nvPr/>
        </p:nvSpPr>
        <p:spPr>
          <a:xfrm>
            <a:off x="10277856" y="1632204"/>
            <a:ext cx="521207" cy="538581"/>
          </a:xfrm>
          <a:prstGeom prst="roundRect">
            <a:avLst>
              <a:gd name="adj" fmla="val 16000"/>
            </a:avLst>
          </a:prstGeom>
          <a:noFill/>
          <a:ln w="31750">
            <a:solidFill>
              <a:srgbClr val="31622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500" b="1">
                <a:solidFill>
                  <a:srgbClr val="316226"/>
                </a:solidFill>
                <a:latin typeface="Arial"/>
              </a:rPr>
              <a:t>X</a:t>
            </a:r>
          </a:p>
          <a:p>
            <a:pPr algn="ctr"/>
            <a:r>
              <a:rPr sz="900" b="1">
                <a:solidFill>
                  <a:srgbClr val="316226"/>
                </a:solidFill>
                <a:latin typeface="Arial"/>
              </a:rPr>
              <a:t>5 · A</a:t>
            </a:r>
          </a:p>
        </p:txBody>
      </p:sp>
      <p:sp>
        <p:nvSpPr>
          <p:cNvPr id="28" name="TextBox 27"/>
          <p:cNvSpPr txBox="1"/>
          <p:nvPr/>
        </p:nvSpPr>
        <p:spPr>
          <a:xfrm>
            <a:off x="7680960" y="4069080"/>
            <a:ext cx="3977639" cy="640080"/>
          </a:xfrm>
          <a:prstGeom prst="rect">
            <a:avLst/>
          </a:prstGeom>
          <a:noFill/>
        </p:spPr>
        <p:txBody>
          <a:bodyPr wrap="square" lIns="0" rIns="0" tIns="0" bIns="0" anchor="t">
            <a:noAutofit/>
          </a:bodyPr>
          <a:lstStyle/>
          <a:p>
            <a:pPr algn="ctr">
              <a:spcAft>
                <a:spcPts val="0"/>
              </a:spcAft>
            </a:pPr>
            <a:r>
              <a:rPr sz="1800" b="0">
                <a:solidFill>
                  <a:srgbClr val="535969"/>
                </a:solidFill>
                <a:latin typeface="Arial"/>
              </a:rPr>
              <a:t>Not a win yet.</a:t>
            </a:r>
          </a:p>
          <a:p>
            <a:pPr algn="ctr">
              <a:spcAft>
                <a:spcPts val="0"/>
              </a:spcAft>
            </a:pPr>
            <a:r>
              <a:rPr sz="1800" b="0">
                <a:solidFill>
                  <a:srgbClr val="535969"/>
                </a:solidFill>
                <a:latin typeface="Arial"/>
              </a:rPr>
              <a:t>All three X marks are spooky.</a:t>
            </a:r>
          </a:p>
        </p:txBody>
      </p:sp>
      <p:sp>
        <p:nvSpPr>
          <p:cNvPr id="29" name="Rectangle 28"/>
          <p:cNvSpPr/>
          <p:nvPr/>
        </p:nvSpPr>
        <p:spPr>
          <a:xfrm>
            <a:off x="548640" y="4892040"/>
            <a:ext cx="11109960" cy="13258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92040"/>
            <a:ext cx="82296" cy="1325880"/>
          </a:xfrm>
          <a:prstGeom prst="rect">
            <a:avLst/>
          </a:prstGeom>
          <a:solidFill>
            <a:srgbClr val="B41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001768"/>
            <a:ext cx="10515600" cy="365760"/>
          </a:xfrm>
          <a:prstGeom prst="rect">
            <a:avLst/>
          </a:prstGeom>
          <a:noFill/>
        </p:spPr>
        <p:txBody>
          <a:bodyPr wrap="square" lIns="0" rIns="0" tIns="0" bIns="0" anchor="t">
            <a:noAutofit/>
          </a:bodyPr>
          <a:lstStyle/>
          <a:p>
            <a:pPr algn="l">
              <a:spcAft>
                <a:spcPts val="0"/>
              </a:spcAft>
            </a:pPr>
            <a:r>
              <a:rPr sz="2000" b="1">
                <a:solidFill>
                  <a:srgbClr val="202435"/>
                </a:solidFill>
                <a:latin typeface="Arial"/>
              </a:rPr>
              <a:t>Talk about it</a:t>
            </a:r>
          </a:p>
        </p:txBody>
      </p:sp>
      <p:sp>
        <p:nvSpPr>
          <p:cNvPr id="32" name="TextBox 31"/>
          <p:cNvSpPr txBox="1"/>
          <p:nvPr/>
        </p:nvSpPr>
        <p:spPr>
          <a:xfrm>
            <a:off x="896112" y="5394960"/>
            <a:ext cx="10515600" cy="777240"/>
          </a:xfrm>
          <a:prstGeom prst="rect">
            <a:avLst/>
          </a:prstGeom>
          <a:noFill/>
        </p:spPr>
        <p:txBody>
          <a:bodyPr wrap="square" lIns="0" rIns="0" tIns="0" bIns="0" anchor="t">
            <a:noAutofit/>
          </a:bodyPr>
          <a:lstStyle/>
          <a:p>
            <a:pPr algn="l" marL="384048" indent="-384048">
              <a:spcAft>
                <a:spcPts val="200"/>
              </a:spcAft>
              <a:buClr>
                <a:srgbClr val="B41524"/>
              </a:buClr>
              <a:buFont typeface="Arial"/>
              <a:buChar char="•"/>
            </a:pPr>
            <a:r>
              <a:rPr sz="1800" b="0">
                <a:solidFill>
                  <a:srgbClr val="202435"/>
                </a:solidFill>
                <a:latin typeface="Arial"/>
              </a:rPr>
              <a:t>Why do three spooky marks in a row not count as a win?</a:t>
            </a:r>
          </a:p>
          <a:p>
            <a:pPr algn="l" marL="384048" indent="-384048">
              <a:spcAft>
                <a:spcPts val="200"/>
              </a:spcAft>
              <a:buClr>
                <a:srgbClr val="B41524"/>
              </a:buClr>
              <a:buFont typeface="Arial"/>
              <a:buChar char="•"/>
            </a:pPr>
            <a:r>
              <a:rPr sz="1800" b="0">
                <a:solidFill>
                  <a:srgbClr val="202435"/>
                </a:solidFill>
                <a:latin typeface="Arial"/>
              </a:rPr>
              <a:t>Two pairs share a square. What does measuring one tell you about the other?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Superposition Tic-Tac-Toe</dc:title>
  <dc:subject>Seven slides on superposition, qubits, entanglement, and the Ghost Grid superposition tic-tac-toe game</dc:subject>
  <dc:creator/>
  <cp:keywords>quantum tic-tac-toe, superposition, entanglement, quantum computing, grade 6, Ghost Grid</cp:keywords>
  <dc:description/>
  <cp:lastModifiedBy/>
  <cp:revision>1</cp:revision>
  <dcterms:created xsi:type="dcterms:W3CDTF">2026-09-13T00:38:24Z</dcterms:created>
  <dcterms:modified xsi:type="dcterms:W3CDTF">2026-09-13T00:38:24Z</dcterms:modified>
  <cp:category/>
</cp:coreProperties>
</file>